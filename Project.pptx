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ags/tag4.xml" ContentType="application/vnd.openxmlformats-officedocument.presentationml.tags+xml"/>
  <Override PartName="/ppt/notesSlides/notesSlide1.xml" ContentType="application/vnd.openxmlformats-officedocument.presentationml.notesSlide+xml"/>
  <Override PartName="/ppt/media/image5.jpg" ContentType="image/png"/>
  <Override PartName="/ppt/tags/tag5.xml" ContentType="application/vnd.openxmlformats-officedocument.presentationml.tags+xml"/>
  <Override PartName="/ppt/notesSlides/notesSlide2.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50" r:id="rId1"/>
    <p:sldMasterId id="2147483652" r:id="rId2"/>
  </p:sldMasterIdLst>
  <p:notesMasterIdLst>
    <p:notesMasterId r:id="rId17"/>
  </p:notesMasterIdLst>
  <p:sldIdLst>
    <p:sldId id="256" r:id="rId3"/>
    <p:sldId id="571" r:id="rId4"/>
    <p:sldId id="572" r:id="rId5"/>
    <p:sldId id="573" r:id="rId6"/>
    <p:sldId id="574" r:id="rId7"/>
    <p:sldId id="575" r:id="rId8"/>
    <p:sldId id="576" r:id="rId9"/>
    <p:sldId id="580" r:id="rId10"/>
    <p:sldId id="581" r:id="rId11"/>
    <p:sldId id="582" r:id="rId12"/>
    <p:sldId id="577" r:id="rId13"/>
    <p:sldId id="579" r:id="rId14"/>
    <p:sldId id="578" r:id="rId15"/>
    <p:sldId id="536" r:id="rId16"/>
  </p:sldIdLst>
  <p:sldSz cx="12192000" cy="6858000"/>
  <p:notesSz cx="6858000" cy="9144000"/>
  <p:custDataLst>
    <p:tags r:id="rId18"/>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672" userDrawn="1">
          <p15:clr>
            <a:srgbClr val="A4A3A4"/>
          </p15:clr>
        </p15:guide>
        <p15:guide id="2" pos="312" userDrawn="1">
          <p15:clr>
            <a:srgbClr val="A4A3A4"/>
          </p15:clr>
        </p15:guide>
        <p15:guide id="3" orient="horz" pos="912" userDrawn="1">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C4B9636B-3D94-EB3D-7CF5-3935240F8C9F}" name="Ramar Bose" initials="RB" userId="S::ramar@edunetfoundation.org::ae727035-80f4-46a2-9b41-59f778a1b49a" providerId="AD"/>
  <p188:author id="{D0A8B7BB-36D1-777B-64C8-9A30C894A727}" name="Rashmi Mishra" initials="RM" userId="S::rmishra@edunetfoundation.org::6469e6c3-66fa-4f4f-9c10-a71ac4161bf2"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4A751"/>
    <a:srgbClr val="263570"/>
    <a:srgbClr val="4A9DE2"/>
    <a:srgbClr val="88BFEC"/>
    <a:srgbClr val="F9B1B1"/>
    <a:srgbClr val="B2DE82"/>
    <a:srgbClr val="F57373"/>
    <a:srgbClr val="F03434"/>
    <a:srgbClr val="BC7D00"/>
    <a:srgbClr val="FFBC37"/>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20"/>
    <p:restoredTop sz="73818" autoAdjust="0"/>
  </p:normalViewPr>
  <p:slideViewPr>
    <p:cSldViewPr snapToGrid="0">
      <p:cViewPr varScale="1">
        <p:scale>
          <a:sx n="82" d="100"/>
          <a:sy n="82" d="100"/>
        </p:scale>
        <p:origin x="691" y="72"/>
      </p:cViewPr>
      <p:guideLst>
        <p:guide orient="horz" pos="672"/>
        <p:guide pos="312"/>
        <p:guide orient="horz" pos="912"/>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tags" Target="tags/tag1.xml"/><Relationship Id="rId3" Type="http://schemas.openxmlformats.org/officeDocument/2006/relationships/slide" Target="slides/slide1.xml"/><Relationship Id="rId21" Type="http://schemas.openxmlformats.org/officeDocument/2006/relationships/theme" Target="theme/theme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notesMaster" Target="notesMasters/notesMaster1.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15" Type="http://schemas.openxmlformats.org/officeDocument/2006/relationships/slide" Target="slides/slide13.xml"/><Relationship Id="rId23" Type="http://schemas.microsoft.com/office/2018/10/relationships/authors" Target="authors.xml"/><Relationship Id="rId10" Type="http://schemas.openxmlformats.org/officeDocument/2006/relationships/slide" Target="slides/slide8.xml"/><Relationship Id="rId19" Type="http://schemas.openxmlformats.org/officeDocument/2006/relationships/presProps" Target="presProp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1699836-02B7-459A-AF64-A000817D576C}" type="datetimeFigureOut">
              <a:rPr lang="en-IN" smtClean="0"/>
              <a:t>22-02-2026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3065E4E-ABE4-4C79-8716-B93932D5FBD3}" type="slidenum">
              <a:rPr lang="en-IN" smtClean="0"/>
              <a:t>‹#›</a:t>
            </a:fld>
            <a:endParaRPr lang="en-IN"/>
          </a:p>
        </p:txBody>
      </p:sp>
    </p:spTree>
    <p:extLst>
      <p:ext uri="{BB962C8B-B14F-4D97-AF65-F5344CB8AC3E}">
        <p14:creationId xmlns:p14="http://schemas.microsoft.com/office/powerpoint/2010/main" val="194133165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3065E4E-ABE4-4C79-8716-B93932D5FBD3}" type="slidenum">
              <a:rPr lang="en-IN" smtClean="0"/>
              <a:t>1</a:t>
            </a:fld>
            <a:endParaRPr lang="en-IN"/>
          </a:p>
        </p:txBody>
      </p:sp>
    </p:spTree>
    <p:extLst>
      <p:ext uri="{BB962C8B-B14F-4D97-AF65-F5344CB8AC3E}">
        <p14:creationId xmlns:p14="http://schemas.microsoft.com/office/powerpoint/2010/main" val="285826633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D88B07-5A8B-12D3-48D5-B8315D13CDF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87B6700-05A0-7411-109E-A374569B630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488D759-B238-4D1C-A179-63DF885F62A2}"/>
              </a:ext>
            </a:extLst>
          </p:cNvPr>
          <p:cNvSpPr>
            <a:spLocks noGrp="1"/>
          </p:cNvSpPr>
          <p:nvPr>
            <p:ph type="body" idx="1"/>
          </p:nvPr>
        </p:nvSpPr>
        <p:spPr/>
        <p:txBody>
          <a:bodyPr/>
          <a:lstStyle/>
          <a:p>
            <a:endParaRPr lang="en-IN">
              <a:cs typeface="Calibri"/>
            </a:endParaRPr>
          </a:p>
        </p:txBody>
      </p:sp>
      <p:sp>
        <p:nvSpPr>
          <p:cNvPr id="4" name="Slide Number Placeholder 3">
            <a:extLst>
              <a:ext uri="{FF2B5EF4-FFF2-40B4-BE49-F238E27FC236}">
                <a16:creationId xmlns:a16="http://schemas.microsoft.com/office/drawing/2014/main" id="{74C31F17-191B-CFE4-28A8-DF229B949339}"/>
              </a:ext>
            </a:extLst>
          </p:cNvPr>
          <p:cNvSpPr>
            <a:spLocks noGrp="1"/>
          </p:cNvSpPr>
          <p:nvPr>
            <p:ph type="sldNum" sz="quarter" idx="5"/>
          </p:nvPr>
        </p:nvSpPr>
        <p:spPr/>
        <p:txBody>
          <a:bodyPr/>
          <a:lstStyle/>
          <a:p>
            <a:fld id="{F3065E4E-ABE4-4C79-8716-B93932D5FBD3}" type="slidenum">
              <a:rPr lang="en-IN" smtClean="0"/>
              <a:t>14</a:t>
            </a:fld>
            <a:endParaRPr lang="en-IN"/>
          </a:p>
        </p:txBody>
      </p:sp>
    </p:spTree>
    <p:extLst>
      <p:ext uri="{BB962C8B-B14F-4D97-AF65-F5344CB8AC3E}">
        <p14:creationId xmlns:p14="http://schemas.microsoft.com/office/powerpoint/2010/main" val="2076854536"/>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3.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Tree>
    <p:custDataLst>
      <p:tags r:id="rId1"/>
    </p:custDataLst>
    <p:extLst>
      <p:ext uri="{BB962C8B-B14F-4D97-AF65-F5344CB8AC3E}">
        <p14:creationId xmlns:p14="http://schemas.microsoft.com/office/powerpoint/2010/main" val="4062684690"/>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body" userDrawn="1">
  <p:cSld name="1_Title and body">
    <p:spTree>
      <p:nvGrpSpPr>
        <p:cNvPr id="1" name="Shape 13"/>
        <p:cNvGrpSpPr/>
        <p:nvPr/>
      </p:nvGrpSpPr>
      <p:grpSpPr>
        <a:xfrm>
          <a:off x="0" y="0"/>
          <a:ext cx="0" cy="0"/>
          <a:chOff x="0" y="0"/>
          <a:chExt cx="0" cy="0"/>
        </a:xfrm>
      </p:grpSpPr>
    </p:spTree>
    <p:extLst>
      <p:ext uri="{BB962C8B-B14F-4D97-AF65-F5344CB8AC3E}">
        <p14:creationId xmlns:p14="http://schemas.microsoft.com/office/powerpoint/2010/main" val="976909704"/>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B54273-D1B2-B5DA-BF7E-9FF169DF6E64}"/>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330EE723-48AC-C184-D51D-DB184D9E4A13}"/>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CA5A217C-58BE-CEDC-FE42-FFECCA1613A4}"/>
              </a:ext>
            </a:extLst>
          </p:cNvPr>
          <p:cNvSpPr>
            <a:spLocks noGrp="1"/>
          </p:cNvSpPr>
          <p:nvPr>
            <p:ph type="dt" sz="half" idx="10"/>
          </p:nvPr>
        </p:nvSpPr>
        <p:spPr/>
        <p:txBody>
          <a:bodyPr/>
          <a:lstStyle/>
          <a:p>
            <a:fld id="{CB3FA99E-0146-4BD9-9E30-4EB71F3A4207}" type="datetimeFigureOut">
              <a:rPr lang="en-IN" smtClean="0"/>
              <a:t>22-02-2026</a:t>
            </a:fld>
            <a:endParaRPr lang="en-IN"/>
          </a:p>
        </p:txBody>
      </p:sp>
      <p:sp>
        <p:nvSpPr>
          <p:cNvPr id="5" name="Footer Placeholder 4">
            <a:extLst>
              <a:ext uri="{FF2B5EF4-FFF2-40B4-BE49-F238E27FC236}">
                <a16:creationId xmlns:a16="http://schemas.microsoft.com/office/drawing/2014/main" id="{72F67DFB-4595-5610-E73D-EA112439D59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9AB5188B-8994-FE2D-E924-64F2FB541B2D}"/>
              </a:ext>
            </a:extLst>
          </p:cNvPr>
          <p:cNvSpPr>
            <a:spLocks noGrp="1"/>
          </p:cNvSpPr>
          <p:nvPr>
            <p:ph type="sldNum" sz="quarter" idx="12"/>
          </p:nvPr>
        </p:nvSpPr>
        <p:spPr/>
        <p:txBody>
          <a:bodyPr/>
          <a:lstStyle/>
          <a:p>
            <a:fld id="{34381918-31C6-44C6-A382-2FA557A3F6B9}" type="slidenum">
              <a:rPr lang="en-IN" smtClean="0"/>
              <a:t>‹#›</a:t>
            </a:fld>
            <a:endParaRPr lang="en-IN"/>
          </a:p>
        </p:txBody>
      </p:sp>
    </p:spTree>
    <p:extLst>
      <p:ext uri="{BB962C8B-B14F-4D97-AF65-F5344CB8AC3E}">
        <p14:creationId xmlns:p14="http://schemas.microsoft.com/office/powerpoint/2010/main" val="375092854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EDE50D6-574B-40AF-946F-D52A04ADE379}" type="datetime1">
              <a:rPr lang="en-US" smtClean="0"/>
              <a:t>22-Feb-26</a:t>
            </a:fld>
            <a:endParaRPr lang="en-US"/>
          </a:p>
        </p:txBody>
      </p:sp>
      <p:sp>
        <p:nvSpPr>
          <p:cNvPr id="3" name="Footer Placeholder 2"/>
          <p:cNvSpPr>
            <a:spLocks noGrp="1"/>
          </p:cNvSpPr>
          <p:nvPr>
            <p:ph type="ftr" sz="quarter" idx="11"/>
          </p:nvPr>
        </p:nvSpPr>
        <p:spPr>
          <a:xfrm>
            <a:off x="581192" y="6423914"/>
            <a:ext cx="6917210" cy="365125"/>
          </a:xfrm>
          <a:prstGeom prst="rect">
            <a:avLst/>
          </a:prstGeom>
        </p:spPr>
        <p:txBody>
          <a:bodyPr/>
          <a:lstStyle/>
          <a:p>
            <a:endParaRPr lang="en-US"/>
          </a:p>
        </p:txBody>
      </p:sp>
      <p:sp>
        <p:nvSpPr>
          <p:cNvPr id="4" name="Slide Number Placeholder 3"/>
          <p:cNvSpPr>
            <a:spLocks noGrp="1"/>
          </p:cNvSpPr>
          <p:nvPr>
            <p:ph type="sldNum" sz="quarter" idx="12"/>
          </p:nvPr>
        </p:nvSpPr>
        <p:spPr/>
        <p:txBody>
          <a:bodyPr/>
          <a:lstStyle/>
          <a:p>
            <a:fld id="{3A98EE3D-8CD1-4C3F-BD1C-C98C9596463C}" type="slidenum">
              <a:rPr lang="en-US" smtClean="0"/>
              <a:t>‹#›</a:t>
            </a:fld>
            <a:endParaRPr lang="en-US"/>
          </a:p>
        </p:txBody>
      </p:sp>
    </p:spTree>
    <p:extLst>
      <p:ext uri="{BB962C8B-B14F-4D97-AF65-F5344CB8AC3E}">
        <p14:creationId xmlns:p14="http://schemas.microsoft.com/office/powerpoint/2010/main" val="115759291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p>
        </p:txBody>
      </p:sp>
      <p:sp>
        <p:nvSpPr>
          <p:cNvPr id="4" name="Date Placeholder 3"/>
          <p:cNvSpPr>
            <a:spLocks noGrp="1"/>
          </p:cNvSpPr>
          <p:nvPr>
            <p:ph type="dt" sz="half" idx="10"/>
          </p:nvPr>
        </p:nvSpPr>
        <p:spPr/>
        <p:txBody>
          <a:bodyPr/>
          <a:lstStyle/>
          <a:p>
            <a:fld id="{846CE7D5-CF57-46EF-B807-FDD0502418D4}" type="datetimeFigureOut">
              <a:rPr lang="en-GB" smtClean="0"/>
              <a:t>22/02/2026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92885632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202710732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and Vertical Text">
    <p:spTree>
      <p:nvGrpSpPr>
        <p:cNvPr id="1" name=""/>
        <p:cNvGrpSpPr/>
        <p:nvPr/>
      </p:nvGrpSpPr>
      <p:grpSpPr>
        <a:xfrm>
          <a:off x="0" y="0"/>
          <a:ext cx="0" cy="0"/>
          <a:chOff x="0" y="0"/>
          <a:chExt cx="0" cy="0"/>
        </a:xfrm>
      </p:grpSpPr>
    </p:spTree>
    <p:extLst>
      <p:ext uri="{BB962C8B-B14F-4D97-AF65-F5344CB8AC3E}">
        <p14:creationId xmlns:p14="http://schemas.microsoft.com/office/powerpoint/2010/main" val="264522937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Vertical Title and Text">
    <p:spTree>
      <p:nvGrpSpPr>
        <p:cNvPr id="1" name=""/>
        <p:cNvGrpSpPr/>
        <p:nvPr/>
      </p:nvGrpSpPr>
      <p:grpSpPr>
        <a:xfrm>
          <a:off x="0" y="0"/>
          <a:ext cx="0" cy="0"/>
          <a:chOff x="0" y="0"/>
          <a:chExt cx="0" cy="0"/>
        </a:xfrm>
      </p:grpSpPr>
    </p:spTree>
    <p:extLst>
      <p:ext uri="{BB962C8B-B14F-4D97-AF65-F5344CB8AC3E}">
        <p14:creationId xmlns:p14="http://schemas.microsoft.com/office/powerpoint/2010/main" val="148987096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body" userDrawn="1">
  <p:cSld name="1_Title and body">
    <p:spTree>
      <p:nvGrpSpPr>
        <p:cNvPr id="1" name="Shape 13"/>
        <p:cNvGrpSpPr/>
        <p:nvPr/>
      </p:nvGrpSpPr>
      <p:grpSpPr>
        <a:xfrm>
          <a:off x="0" y="0"/>
          <a:ext cx="0" cy="0"/>
          <a:chOff x="0" y="0"/>
          <a:chExt cx="0" cy="0"/>
        </a:xfrm>
      </p:grpSpPr>
    </p:spTree>
    <p:extLst>
      <p:ext uri="{BB962C8B-B14F-4D97-AF65-F5344CB8AC3E}">
        <p14:creationId xmlns:p14="http://schemas.microsoft.com/office/powerpoint/2010/main" val="97974765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tags" Target="../tags/tag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8.xml"/><Relationship Id="rId2" Type="http://schemas.openxmlformats.org/officeDocument/2006/relationships/slideLayout" Target="../slideLayouts/slideLayout7.xml"/><Relationship Id="rId1" Type="http://schemas.openxmlformats.org/officeDocument/2006/relationships/slideLayout" Target="../slideLayouts/slideLayout6.xml"/><Relationship Id="rId5" Type="http://schemas.openxmlformats.org/officeDocument/2006/relationships/theme" Target="../theme/theme2.xml"/><Relationship Id="rId4"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ABE36FD2-5CF9-42B6-267C-75A9A8826A1C}"/>
              </a:ext>
            </a:extLst>
          </p:cNvPr>
          <p:cNvSpPr/>
          <p:nvPr userDrawn="1"/>
        </p:nvSpPr>
        <p:spPr>
          <a:xfrm>
            <a:off x="0" y="0"/>
            <a:ext cx="10374086" cy="660400"/>
          </a:xfrm>
          <a:prstGeom prst="rect">
            <a:avLst/>
          </a:prstGeom>
          <a:solidFill>
            <a:srgbClr val="26357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2" name="Rectangle 21">
            <a:extLst>
              <a:ext uri="{FF2B5EF4-FFF2-40B4-BE49-F238E27FC236}">
                <a16:creationId xmlns:a16="http://schemas.microsoft.com/office/drawing/2014/main" id="{85F6CF07-40A9-24A4-F336-0BDA8D93267D}"/>
              </a:ext>
            </a:extLst>
          </p:cNvPr>
          <p:cNvSpPr/>
          <p:nvPr userDrawn="1"/>
        </p:nvSpPr>
        <p:spPr>
          <a:xfrm>
            <a:off x="0" y="6692900"/>
            <a:ext cx="12192000" cy="165100"/>
          </a:xfrm>
          <a:prstGeom prst="rect">
            <a:avLst/>
          </a:prstGeom>
          <a:solidFill>
            <a:srgbClr val="34A75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1028" name="Picture 4" descr="A black background with grey text&#10;&#10;AI-generated content may be incorrect.">
            <a:extLst>
              <a:ext uri="{FF2B5EF4-FFF2-40B4-BE49-F238E27FC236}">
                <a16:creationId xmlns:a16="http://schemas.microsoft.com/office/drawing/2014/main" id="{66C649D9-DD8B-5B7D-F409-A3797AEF3D36}"/>
              </a:ext>
            </a:extLst>
          </p:cNvPr>
          <p:cNvPicPr>
            <a:picLocks noChangeAspect="1" noChangeArrowheads="1"/>
          </p:cNvPicPr>
          <p:nvPr userDrawn="1"/>
        </p:nvPicPr>
        <p:blipFill>
          <a:blip r:embed="rId8">
            <a:extLst>
              <a:ext uri="{28A0092B-C50C-407E-A947-70E740481C1C}">
                <a14:useLocalDpi xmlns:a14="http://schemas.microsoft.com/office/drawing/2010/main" val="0"/>
              </a:ext>
            </a:extLst>
          </a:blip>
          <a:srcRect/>
          <a:stretch>
            <a:fillRect/>
          </a:stretch>
        </p:blipFill>
        <p:spPr bwMode="auto">
          <a:xfrm>
            <a:off x="10465905" y="91005"/>
            <a:ext cx="1466678" cy="478389"/>
          </a:xfrm>
          <a:prstGeom prst="rect">
            <a:avLst/>
          </a:prstGeom>
          <a:noFill/>
          <a:extLst>
            <a:ext uri="{909E8E84-426E-40DD-AFC4-6F175D3DCCD1}">
              <a14:hiddenFill xmlns:a14="http://schemas.microsoft.com/office/drawing/2010/main">
                <a:solidFill>
                  <a:srgbClr val="FFFFFF"/>
                </a:solidFill>
              </a14:hiddenFill>
            </a:ext>
          </a:extLst>
        </p:spPr>
      </p:pic>
    </p:spTree>
    <p:custDataLst>
      <p:tags r:id="rId7"/>
    </p:custDataLst>
    <p:extLst>
      <p:ext uri="{BB962C8B-B14F-4D97-AF65-F5344CB8AC3E}">
        <p14:creationId xmlns:p14="http://schemas.microsoft.com/office/powerpoint/2010/main" val="3478975145"/>
      </p:ext>
    </p:extLst>
  </p:cSld>
  <p:clrMap bg1="lt1" tx1="dk1" bg2="lt2" tx2="dk2" accent1="accent1" accent2="accent2" accent3="accent3" accent4="accent4" accent5="accent5" accent6="accent6" hlink="hlink" folHlink="folHlink"/>
  <p:sldLayoutIdLst>
    <p:sldLayoutId id="2147483651" r:id="rId1"/>
    <p:sldLayoutId id="2147483665" r:id="rId2"/>
    <p:sldLayoutId id="2147483666" r:id="rId3"/>
    <p:sldLayoutId id="2147483667" r:id="rId4"/>
    <p:sldLayoutId id="2147483668" r:id="rId5"/>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3840">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035179268"/>
      </p:ext>
    </p:extLst>
  </p:cSld>
  <p:clrMap bg1="lt1" tx1="dk1" bg2="lt2" tx2="dk2" accent1="accent1" accent2="accent2" accent3="accent3" accent4="accent4" accent5="accent5" accent6="accent6" hlink="hlink" folHlink="folHlink"/>
  <p:sldLayoutIdLst>
    <p:sldLayoutId id="2147483653" r:id="rId1"/>
    <p:sldLayoutId id="2147483662" r:id="rId2"/>
    <p:sldLayoutId id="2147483663" r:id="rId3"/>
    <p:sldLayoutId id="2147483664" r:id="rId4"/>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6.xml"/><Relationship Id="rId1" Type="http://schemas.openxmlformats.org/officeDocument/2006/relationships/tags" Target="../tags/tag4.xml"/><Relationship Id="rId5" Type="http://schemas.openxmlformats.org/officeDocument/2006/relationships/image" Target="../media/image2.png"/><Relationship Id="rId4"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3" Type="http://schemas.openxmlformats.org/officeDocument/2006/relationships/hyperlink" Target="https://learn.microsoft.com/azure/app-service" TargetMode="External"/><Relationship Id="rId2" Type="http://schemas.openxmlformats.org/officeDocument/2006/relationships/hyperlink" Target="https://learn.microsoft.com/azure/machine-learning" TargetMode="External"/><Relationship Id="rId1" Type="http://schemas.openxmlformats.org/officeDocument/2006/relationships/slideLayout" Target="../slideLayouts/slideLayout3.xml"/><Relationship Id="rId4" Type="http://schemas.openxmlformats.org/officeDocument/2006/relationships/hyperlink" Target="https://www.kaggle.com/" TargetMode="External"/></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1.xml"/><Relationship Id="rId1" Type="http://schemas.openxmlformats.org/officeDocument/2006/relationships/tags" Target="../tags/tag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Rectangle 18">
            <a:extLst>
              <a:ext uri="{FF2B5EF4-FFF2-40B4-BE49-F238E27FC236}">
                <a16:creationId xmlns:a16="http://schemas.microsoft.com/office/drawing/2014/main" id="{940A069D-B6C2-7B0A-6719-9C65A27E0952}"/>
              </a:ext>
            </a:extLst>
          </p:cNvPr>
          <p:cNvSpPr/>
          <p:nvPr/>
        </p:nvSpPr>
        <p:spPr>
          <a:xfrm>
            <a:off x="-32657" y="3429000"/>
            <a:ext cx="424543" cy="3429000"/>
          </a:xfrm>
          <a:prstGeom prst="rect">
            <a:avLst/>
          </a:prstGeom>
          <a:solidFill>
            <a:srgbClr val="34A75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Rectangle 39">
            <a:extLst>
              <a:ext uri="{FF2B5EF4-FFF2-40B4-BE49-F238E27FC236}">
                <a16:creationId xmlns:a16="http://schemas.microsoft.com/office/drawing/2014/main" id="{55C78EFA-3B33-383D-31A6-F48EC0533950}"/>
              </a:ext>
            </a:extLst>
          </p:cNvPr>
          <p:cNvSpPr/>
          <p:nvPr/>
        </p:nvSpPr>
        <p:spPr>
          <a:xfrm>
            <a:off x="0" y="0"/>
            <a:ext cx="228600" cy="3429000"/>
          </a:xfrm>
          <a:prstGeom prst="rect">
            <a:avLst/>
          </a:prstGeom>
          <a:solidFill>
            <a:srgbClr val="26357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97DD7732-9B23-40F7-1FF7-FD50BDC193D8}"/>
              </a:ext>
            </a:extLst>
          </p:cNvPr>
          <p:cNvSpPr/>
          <p:nvPr/>
        </p:nvSpPr>
        <p:spPr>
          <a:xfrm>
            <a:off x="7913913" y="0"/>
            <a:ext cx="4985657" cy="315686"/>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D2DA2A85-6D5C-2987-0FF8-3AF240456D3B}"/>
              </a:ext>
            </a:extLst>
          </p:cNvPr>
          <p:cNvSpPr/>
          <p:nvPr/>
        </p:nvSpPr>
        <p:spPr>
          <a:xfrm>
            <a:off x="-32657" y="6509659"/>
            <a:ext cx="12888684" cy="348341"/>
          </a:xfrm>
          <a:prstGeom prst="rect">
            <a:avLst/>
          </a:prstGeom>
          <a:solidFill>
            <a:srgbClr val="34A75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050" name="Picture 2" descr="A black background with grey text&#10;&#10;AI-generated content may be incorrect.">
            <a:extLst>
              <a:ext uri="{FF2B5EF4-FFF2-40B4-BE49-F238E27FC236}">
                <a16:creationId xmlns:a16="http://schemas.microsoft.com/office/drawing/2014/main" id="{4D362339-2CD4-BEA9-8BCD-81A300A3C9C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97304" y="316620"/>
            <a:ext cx="1725854" cy="562925"/>
          </a:xfrm>
          <a:prstGeom prst="rect">
            <a:avLst/>
          </a:prstGeom>
          <a:noFill/>
          <a:extLst>
            <a:ext uri="{909E8E84-426E-40DD-AFC4-6F175D3DCCD1}">
              <a14:hiddenFill xmlns:a14="http://schemas.microsoft.com/office/drawing/2010/main">
                <a:solidFill>
                  <a:srgbClr val="FFFFFF"/>
                </a:solidFill>
              </a14:hiddenFill>
            </a:ext>
          </a:extLst>
        </p:spPr>
      </p:pic>
      <p:sp>
        <p:nvSpPr>
          <p:cNvPr id="2" name="Rectangle 1">
            <a:extLst>
              <a:ext uri="{FF2B5EF4-FFF2-40B4-BE49-F238E27FC236}">
                <a16:creationId xmlns:a16="http://schemas.microsoft.com/office/drawing/2014/main" id="{91DC6ABD-215C-4EA8-A483-CEF5B99AB3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nvSpPr>
        <p:spPr bwMode="white">
          <a:xfrm>
            <a:off x="0" y="0"/>
            <a:ext cx="12191999" cy="685736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GB"/>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3" name="Title 1">
            <a:extLst>
              <a:ext uri="{FF2B5EF4-FFF2-40B4-BE49-F238E27FC236}">
                <a16:creationId xmlns:a16="http://schemas.microsoft.com/office/drawing/2014/main" id="{0F837936-4230-3A98-A2A1-6E77E027B36D}"/>
              </a:ext>
            </a:extLst>
          </p:cNvPr>
          <p:cNvSpPr>
            <a:spLocks noGrp="1"/>
          </p:cNvSpPr>
          <p:nvPr/>
        </p:nvSpPr>
        <p:spPr>
          <a:xfrm>
            <a:off x="517379" y="1343054"/>
            <a:ext cx="4746772" cy="2506766"/>
          </a:xfrm>
          <a:prstGeom prst="rect">
            <a:avLst/>
          </a:prstGeom>
        </p:spPr>
        <p:txBody>
          <a:bodyPr vert="horz" lIns="91440" tIns="45720" rIns="91440" bIns="45720" rtlCol="0" anchor="b">
            <a:normAutofit fontScale="70000" lnSpcReduction="2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US" sz="5700" b="1" kern="1200" dirty="0">
                <a:latin typeface="+mj-lt"/>
                <a:ea typeface="+mj-ea"/>
                <a:cs typeface="+mj-cs"/>
              </a:rPr>
              <a:t>CAPSTONE </a:t>
            </a:r>
            <a:r>
              <a:rPr lang="en-US" sz="5700" b="1" dirty="0"/>
              <a:t>PROJECT</a:t>
            </a:r>
            <a:endParaRPr lang="en-US" sz="5700" dirty="0">
              <a:latin typeface="Aptos"/>
            </a:endParaRPr>
          </a:p>
          <a:p>
            <a:pPr algn="l"/>
            <a:br>
              <a:rPr lang="en-US" sz="5100" b="1" dirty="0"/>
            </a:br>
            <a:r>
              <a:rPr lang="en-US" sz="5100" b="1" cap="all" dirty="0">
                <a:latin typeface="Aptos"/>
              </a:rPr>
              <a:t>Ai Based Traffic Accident Severity Prediction System</a:t>
            </a:r>
            <a:endParaRPr lang="en-US" sz="5100" dirty="0">
              <a:latin typeface="Aptos"/>
            </a:endParaRPr>
          </a:p>
          <a:p>
            <a:pPr algn="l"/>
            <a:endParaRPr lang="en-US" sz="5100" b="1" kern="1200" dirty="0"/>
          </a:p>
        </p:txBody>
      </p:sp>
      <p:sp>
        <p:nvSpPr>
          <p:cNvPr id="5" name="Subtitle 2">
            <a:extLst>
              <a:ext uri="{FF2B5EF4-FFF2-40B4-BE49-F238E27FC236}">
                <a16:creationId xmlns:a16="http://schemas.microsoft.com/office/drawing/2014/main" id="{3A663A0C-3931-F8E6-391C-2FF1FDBB09CD}"/>
              </a:ext>
            </a:extLst>
          </p:cNvPr>
          <p:cNvSpPr>
            <a:spLocks noGrp="1"/>
          </p:cNvSpPr>
          <p:nvPr/>
        </p:nvSpPr>
        <p:spPr>
          <a:xfrm>
            <a:off x="594126" y="3739889"/>
            <a:ext cx="8689833" cy="1915537"/>
          </a:xfrm>
          <a:prstGeom prst="rect">
            <a:avLst/>
          </a:prstGeom>
        </p:spPr>
        <p:txBody>
          <a:bodyPr vert="horz" lIns="91440" tIns="45720" rIns="91440" bIns="45720" rtlCol="0" anchor="t">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spcAft>
                <a:spcPts val="600"/>
              </a:spcAft>
            </a:pPr>
            <a:r>
              <a:rPr lang="en-US" sz="1600" b="1" cap="all" dirty="0"/>
              <a:t>Presented By</a:t>
            </a:r>
            <a:endParaRPr lang="en-US" sz="1600" cap="all" dirty="0"/>
          </a:p>
          <a:p>
            <a:pPr algn="l">
              <a:spcAft>
                <a:spcPts val="600"/>
              </a:spcAft>
            </a:pPr>
            <a:r>
              <a:rPr lang="en-US" sz="1600" b="1" cap="all" dirty="0"/>
              <a:t>Student Name: Shivam Laxman Dhamankar</a:t>
            </a:r>
          </a:p>
          <a:p>
            <a:pPr algn="l">
              <a:spcAft>
                <a:spcPts val="600"/>
              </a:spcAft>
            </a:pPr>
            <a:r>
              <a:rPr lang="en-US" sz="1600" b="1" cap="all" dirty="0"/>
              <a:t>College Name: Wainganga college of </a:t>
            </a:r>
          </a:p>
          <a:p>
            <a:pPr algn="l">
              <a:spcAft>
                <a:spcPts val="600"/>
              </a:spcAft>
            </a:pPr>
            <a:r>
              <a:rPr lang="en-US" sz="1600" b="1" cap="all" dirty="0"/>
              <a:t>Engineering &amp; Management , Nagpur</a:t>
            </a:r>
          </a:p>
          <a:p>
            <a:pPr algn="l">
              <a:spcAft>
                <a:spcPts val="600"/>
              </a:spcAft>
            </a:pPr>
            <a:r>
              <a:rPr lang="en-US" sz="1600" b="1" cap="all" dirty="0"/>
              <a:t>Department: CSE	</a:t>
            </a:r>
          </a:p>
          <a:p>
            <a:pPr algn="l">
              <a:spcAft>
                <a:spcPts val="600"/>
              </a:spcAft>
            </a:pPr>
            <a:r>
              <a:rPr lang="en-US" sz="1600" b="1" cap="all" dirty="0"/>
              <a:t>Email ID:shivamdhamankar121@gmail.com</a:t>
            </a:r>
          </a:p>
        </p:txBody>
      </p:sp>
      <p:sp>
        <p:nvSpPr>
          <p:cNvPr id="8" name="Rectangle 7">
            <a:extLst>
              <a:ext uri="{FF2B5EF4-FFF2-40B4-BE49-F238E27FC236}">
                <a16:creationId xmlns:a16="http://schemas.microsoft.com/office/drawing/2014/main" id="{04357C93-F0CB-4A1C-8F77-4E906378981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nvSpPr>
        <p:spPr>
          <a:xfrm>
            <a:off x="5386598" y="269324"/>
            <a:ext cx="6116779" cy="6208776"/>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GB"/>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pic>
        <p:nvPicPr>
          <p:cNvPr id="10" name="Picture 9">
            <a:extLst>
              <a:ext uri="{FF2B5EF4-FFF2-40B4-BE49-F238E27FC236}">
                <a16:creationId xmlns:a16="http://schemas.microsoft.com/office/drawing/2014/main" id="{18E0C557-0F9C-26B7-09EB-86538C915F1B}"/>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411685" y="912360"/>
            <a:ext cx="4533900" cy="5000625"/>
          </a:xfrm>
          <a:prstGeom prst="rect">
            <a:avLst/>
          </a:prstGeom>
        </p:spPr>
      </p:pic>
    </p:spTree>
    <p:custDataLst>
      <p:tags r:id="rId1"/>
    </p:custDataLst>
    <p:extLst>
      <p:ext uri="{BB962C8B-B14F-4D97-AF65-F5344CB8AC3E}">
        <p14:creationId xmlns:p14="http://schemas.microsoft.com/office/powerpoint/2010/main" val="231033346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1E0E59-694D-9DFE-4488-37D5F2F480A7}"/>
              </a:ext>
            </a:extLst>
          </p:cNvPr>
          <p:cNvSpPr>
            <a:spLocks noGrp="1"/>
          </p:cNvSpPr>
          <p:nvPr>
            <p:ph type="title"/>
          </p:nvPr>
        </p:nvSpPr>
        <p:spPr>
          <a:xfrm>
            <a:off x="-1191" y="698500"/>
            <a:ext cx="10515600" cy="1325563"/>
          </a:xfrm>
        </p:spPr>
        <p:txBody>
          <a:bodyPr lIns="91440" tIns="45720" rIns="91440" bIns="45720" anchor="t">
            <a:normAutofit/>
          </a:bodyPr>
          <a:lstStyle/>
          <a:p>
            <a:r>
              <a:rPr lang="en-US" sz="5400" b="1" cap="all" dirty="0">
                <a:latin typeface="Arial"/>
                <a:cs typeface="Arial"/>
              </a:rPr>
              <a:t>OUTLINE:</a:t>
            </a:r>
            <a:endParaRPr lang="en-US" sz="5400" dirty="0"/>
          </a:p>
        </p:txBody>
      </p:sp>
      <p:sp>
        <p:nvSpPr>
          <p:cNvPr id="3" name="Content Placeholder 2">
            <a:extLst>
              <a:ext uri="{FF2B5EF4-FFF2-40B4-BE49-F238E27FC236}">
                <a16:creationId xmlns:a16="http://schemas.microsoft.com/office/drawing/2014/main" id="{1C04173D-62A9-AF06-B476-EEB827087147}"/>
              </a:ext>
            </a:extLst>
          </p:cNvPr>
          <p:cNvSpPr>
            <a:spLocks noGrp="1"/>
          </p:cNvSpPr>
          <p:nvPr>
            <p:ph idx="1"/>
          </p:nvPr>
        </p:nvSpPr>
        <p:spPr>
          <a:xfrm>
            <a:off x="433387" y="1822228"/>
            <a:ext cx="10515600" cy="4251960"/>
          </a:xfrm>
        </p:spPr>
        <p:txBody>
          <a:bodyPr vert="horz" lIns="91440" tIns="45720" rIns="91440" bIns="45720" rtlCol="0">
            <a:normAutofit/>
          </a:bodyPr>
          <a:lstStyle/>
          <a:p>
            <a:pPr marL="305435" indent="-305435">
              <a:spcBef>
                <a:spcPct val="20000"/>
              </a:spcBef>
              <a:spcAft>
                <a:spcPts val="600"/>
              </a:spcAft>
            </a:pPr>
            <a:r>
              <a:rPr lang="en-US" sz="2200" b="1">
                <a:latin typeface="Arial"/>
                <a:cs typeface="Arial"/>
              </a:rPr>
              <a:t>Problem Statement </a:t>
            </a:r>
            <a:r>
              <a:rPr lang="en-US" sz="2200">
                <a:latin typeface="Arial"/>
                <a:cs typeface="Arial"/>
              </a:rPr>
              <a:t>(Should not include solution)</a:t>
            </a:r>
          </a:p>
          <a:p>
            <a:pPr marL="305435" indent="-305435">
              <a:spcBef>
                <a:spcPct val="20000"/>
              </a:spcBef>
              <a:spcAft>
                <a:spcPts val="600"/>
              </a:spcAft>
            </a:pPr>
            <a:r>
              <a:rPr lang="en-US" sz="2200" b="1">
                <a:latin typeface="Arial"/>
                <a:cs typeface="Arial"/>
              </a:rPr>
              <a:t>Proposed System/Solution</a:t>
            </a:r>
            <a:endParaRPr lang="en-US" sz="2200">
              <a:latin typeface="Arial"/>
              <a:cs typeface="Arial"/>
            </a:endParaRPr>
          </a:p>
          <a:p>
            <a:pPr marL="305435" indent="-305435">
              <a:spcBef>
                <a:spcPct val="20000"/>
              </a:spcBef>
              <a:spcAft>
                <a:spcPts val="600"/>
              </a:spcAft>
            </a:pPr>
            <a:r>
              <a:rPr lang="en-US" sz="2200" b="1">
                <a:latin typeface="Arial"/>
                <a:cs typeface="Arial"/>
              </a:rPr>
              <a:t>System Development Approach </a:t>
            </a:r>
            <a:r>
              <a:rPr lang="en-US" sz="2200">
                <a:latin typeface="Arial"/>
                <a:cs typeface="Arial"/>
              </a:rPr>
              <a:t>(Technology Used) </a:t>
            </a:r>
          </a:p>
          <a:p>
            <a:pPr marL="305435" indent="-305435">
              <a:spcBef>
                <a:spcPct val="20000"/>
              </a:spcBef>
              <a:spcAft>
                <a:spcPts val="600"/>
              </a:spcAft>
            </a:pPr>
            <a:r>
              <a:rPr lang="en-US" sz="2200" b="1">
                <a:latin typeface="Arial"/>
                <a:cs typeface="Arial"/>
              </a:rPr>
              <a:t>Algorithm &amp; Deployment  </a:t>
            </a:r>
            <a:endParaRPr lang="en-US" sz="2200">
              <a:latin typeface="Arial"/>
              <a:cs typeface="Arial"/>
            </a:endParaRPr>
          </a:p>
          <a:p>
            <a:pPr marL="305435" indent="-305435">
              <a:spcBef>
                <a:spcPct val="20000"/>
              </a:spcBef>
              <a:spcAft>
                <a:spcPts val="600"/>
              </a:spcAft>
            </a:pPr>
            <a:r>
              <a:rPr lang="en-US" sz="2200" b="1">
                <a:latin typeface="Arial"/>
                <a:cs typeface="Arial"/>
              </a:rPr>
              <a:t>Result (Output Image)</a:t>
            </a:r>
            <a:endParaRPr lang="en-US" sz="2200">
              <a:latin typeface="Arial"/>
              <a:cs typeface="Arial"/>
            </a:endParaRPr>
          </a:p>
          <a:p>
            <a:pPr marL="305435" indent="-305435">
              <a:spcBef>
                <a:spcPct val="20000"/>
              </a:spcBef>
              <a:spcAft>
                <a:spcPts val="600"/>
              </a:spcAft>
            </a:pPr>
            <a:r>
              <a:rPr lang="en-US" sz="2200" b="1">
                <a:latin typeface="Arial"/>
                <a:cs typeface="Arial"/>
              </a:rPr>
              <a:t>Conclusion</a:t>
            </a:r>
            <a:endParaRPr lang="en-US" sz="2200">
              <a:latin typeface="Arial"/>
              <a:cs typeface="Arial"/>
            </a:endParaRPr>
          </a:p>
          <a:p>
            <a:pPr marL="305435" indent="-305435">
              <a:spcBef>
                <a:spcPct val="20000"/>
              </a:spcBef>
              <a:spcAft>
                <a:spcPts val="600"/>
              </a:spcAft>
            </a:pPr>
            <a:r>
              <a:rPr lang="en-US" sz="2200" b="1">
                <a:latin typeface="Arial"/>
                <a:cs typeface="Arial"/>
              </a:rPr>
              <a:t>Future Scope</a:t>
            </a:r>
            <a:endParaRPr lang="en-US" sz="2200">
              <a:latin typeface="Arial"/>
              <a:cs typeface="Arial"/>
            </a:endParaRPr>
          </a:p>
          <a:p>
            <a:pPr marL="305435" indent="-305435">
              <a:spcBef>
                <a:spcPct val="20000"/>
              </a:spcBef>
              <a:spcAft>
                <a:spcPts val="600"/>
              </a:spcAft>
            </a:pPr>
            <a:r>
              <a:rPr lang="en-US" sz="2200" b="1">
                <a:latin typeface="Arial"/>
                <a:cs typeface="Arial"/>
              </a:rPr>
              <a:t>References</a:t>
            </a:r>
            <a:endParaRPr lang="en-US" sz="2200">
              <a:latin typeface="Arial"/>
              <a:cs typeface="Arial"/>
            </a:endParaRPr>
          </a:p>
          <a:p>
            <a:endParaRPr lang="en-GB" sz="2200">
              <a:latin typeface="Aptos" panose="020B0004020202020204"/>
              <a:cs typeface="Arial"/>
            </a:endParaRPr>
          </a:p>
        </p:txBody>
      </p:sp>
    </p:spTree>
    <p:extLst>
      <p:ext uri="{BB962C8B-B14F-4D97-AF65-F5344CB8AC3E}">
        <p14:creationId xmlns:p14="http://schemas.microsoft.com/office/powerpoint/2010/main" val="281787476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39B35C-A00A-C6C7-8532-576758ED4255}"/>
              </a:ext>
            </a:extLst>
          </p:cNvPr>
          <p:cNvSpPr>
            <a:spLocks noGrp="1"/>
          </p:cNvSpPr>
          <p:nvPr>
            <p:ph type="title"/>
          </p:nvPr>
        </p:nvSpPr>
        <p:spPr>
          <a:xfrm>
            <a:off x="-1191" y="686594"/>
            <a:ext cx="10515600" cy="1325563"/>
          </a:xfrm>
        </p:spPr>
        <p:txBody>
          <a:bodyPr lIns="91440" tIns="45720" rIns="91440" bIns="45720" anchor="t">
            <a:normAutofit/>
          </a:bodyPr>
          <a:lstStyle/>
          <a:p>
            <a:r>
              <a:rPr lang="en-US" sz="4000" b="1" cap="all">
                <a:latin typeface="Arial"/>
                <a:cs typeface="Arial"/>
              </a:rPr>
              <a:t>Problem Statement:</a:t>
            </a:r>
            <a:endParaRPr lang="en-US" sz="4000"/>
          </a:p>
        </p:txBody>
      </p:sp>
      <p:sp>
        <p:nvSpPr>
          <p:cNvPr id="3" name="Content Placeholder 2">
            <a:extLst>
              <a:ext uri="{FF2B5EF4-FFF2-40B4-BE49-F238E27FC236}">
                <a16:creationId xmlns:a16="http://schemas.microsoft.com/office/drawing/2014/main" id="{28E8C97F-5AC9-F1CA-3CCC-090D5B13989A}"/>
              </a:ext>
            </a:extLst>
          </p:cNvPr>
          <p:cNvSpPr>
            <a:spLocks noGrp="1"/>
          </p:cNvSpPr>
          <p:nvPr>
            <p:ph idx="1"/>
          </p:nvPr>
        </p:nvSpPr>
        <p:spPr>
          <a:xfrm>
            <a:off x="290512" y="1715071"/>
            <a:ext cx="10515600" cy="4251960"/>
          </a:xfrm>
        </p:spPr>
        <p:txBody>
          <a:bodyPr vert="horz" lIns="91440" tIns="45720" rIns="91440" bIns="45720" rtlCol="0">
            <a:normAutofit/>
          </a:bodyPr>
          <a:lstStyle/>
          <a:p>
            <a:pPr marL="0" indent="0" algn="just">
              <a:lnSpc>
                <a:spcPct val="150000"/>
              </a:lnSpc>
              <a:buNone/>
            </a:pPr>
            <a:r>
              <a:rPr lang="en-IN" sz="2200" dirty="0">
                <a:latin typeface="Franklin Gothic Book"/>
              </a:rPr>
              <a:t>Example: </a:t>
            </a:r>
            <a:r>
              <a:rPr lang="en-US" sz="2200" dirty="0">
                <a:latin typeface="Franklin Gothic Book" panose="020B0503020102020204" pitchFamily="34" charset="0"/>
              </a:rPr>
              <a:t>Road accidents cause massive loss of life and economic strain, yet emergency responses are often delayed by a lack of immediate, accurate information. Traditional traffic systems are reactive, failing to analyze the complex interplay of weather, road conditions, and vehicle data in real-time. Authorities struggle to quantify accident severity (Fatal vs. Minor) instantly. This leads to inefficient resource allocation—such as sending a basic patrol to a scene that requires an advanced trauma unit—and poor urban planning for high-risk zones.</a:t>
            </a:r>
          </a:p>
        </p:txBody>
      </p:sp>
    </p:spTree>
    <p:extLst>
      <p:ext uri="{BB962C8B-B14F-4D97-AF65-F5344CB8AC3E}">
        <p14:creationId xmlns:p14="http://schemas.microsoft.com/office/powerpoint/2010/main" val="337291424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27B4B1-584E-2479-D762-2265C7398D27}"/>
              </a:ext>
            </a:extLst>
          </p:cNvPr>
          <p:cNvSpPr>
            <a:spLocks noGrp="1"/>
          </p:cNvSpPr>
          <p:nvPr>
            <p:ph type="title"/>
          </p:nvPr>
        </p:nvSpPr>
        <p:spPr>
          <a:xfrm>
            <a:off x="-1191" y="603250"/>
            <a:ext cx="10515600" cy="1325563"/>
          </a:xfrm>
        </p:spPr>
        <p:txBody>
          <a:bodyPr lIns="91440" tIns="45720" rIns="91440" bIns="45720" anchor="t">
            <a:normAutofit/>
          </a:bodyPr>
          <a:lstStyle/>
          <a:p>
            <a:r>
              <a:rPr lang="en-US" sz="4000" b="1" cap="all">
                <a:latin typeface="Arial"/>
                <a:cs typeface="Arial"/>
              </a:rPr>
              <a:t>Proposed Solution:</a:t>
            </a:r>
            <a:endParaRPr lang="en-US" sz="4000" dirty="0"/>
          </a:p>
        </p:txBody>
      </p:sp>
      <p:sp>
        <p:nvSpPr>
          <p:cNvPr id="3" name="Content Placeholder 2">
            <a:extLst>
              <a:ext uri="{FF2B5EF4-FFF2-40B4-BE49-F238E27FC236}">
                <a16:creationId xmlns:a16="http://schemas.microsoft.com/office/drawing/2014/main" id="{AF67202D-4065-DDD7-98F1-4291C536D1A3}"/>
              </a:ext>
            </a:extLst>
          </p:cNvPr>
          <p:cNvSpPr>
            <a:spLocks noGrp="1"/>
          </p:cNvSpPr>
          <p:nvPr>
            <p:ph idx="1"/>
          </p:nvPr>
        </p:nvSpPr>
        <p:spPr>
          <a:xfrm>
            <a:off x="219075" y="1304306"/>
            <a:ext cx="10515600" cy="4251960"/>
          </a:xfrm>
        </p:spPr>
        <p:txBody>
          <a:bodyPr vert="horz" lIns="91440" tIns="45720" rIns="91440" bIns="45720" rtlCol="0" anchor="t">
            <a:noAutofit/>
          </a:bodyPr>
          <a:lstStyle/>
          <a:p>
            <a:pPr marL="0" indent="0" algn="just">
              <a:lnSpc>
                <a:spcPct val="100000"/>
              </a:lnSpc>
              <a:buNone/>
            </a:pPr>
            <a:r>
              <a:rPr lang="en-US" sz="1500" dirty="0">
                <a:latin typeface="Franklin Gothic Book" panose="020B0503020102020204" pitchFamily="34" charset="0"/>
              </a:rPr>
              <a:t>The proposed system aims to address the challenge of predicting road accident severity (Low, Medium, High) in advance to assist authorities in preventive safety planning. This involves leveraging data analytics and machine learning techniques to analyze historical accident data and identify patterns that influence accident severity. The solution will consist of the following components.</a:t>
            </a:r>
          </a:p>
          <a:p>
            <a:pPr>
              <a:lnSpc>
                <a:spcPct val="100000"/>
              </a:lnSpc>
            </a:pPr>
            <a:r>
              <a:rPr lang="en-US" sz="1500" b="1" dirty="0">
                <a:latin typeface="Franklin Gothic Book" panose="020B0503020102020204" pitchFamily="34" charset="0"/>
              </a:rPr>
              <a:t>Data Collection:  </a:t>
            </a:r>
            <a:r>
              <a:rPr lang="en-US" sz="1500" dirty="0">
                <a:latin typeface="Franklin Gothic Book" panose="020B0503020102020204" pitchFamily="34" charset="0"/>
              </a:rPr>
              <a:t>Gather historical road accident data, including weather conditions, road type, vehicle type, speed, light conditions, location, and time of accident.</a:t>
            </a:r>
          </a:p>
          <a:p>
            <a:pPr>
              <a:lnSpc>
                <a:spcPct val="100000"/>
              </a:lnSpc>
            </a:pPr>
            <a:r>
              <a:rPr lang="en-US" sz="1500" b="1" dirty="0">
                <a:latin typeface="Franklin Gothic Book" panose="020B0503020102020204" pitchFamily="34" charset="0"/>
              </a:rPr>
              <a:t>Data Preprocessing: </a:t>
            </a:r>
            <a:r>
              <a:rPr lang="en-US" sz="1500" dirty="0">
                <a:latin typeface="Franklin Gothic Book" panose="020B0503020102020204" pitchFamily="34" charset="0"/>
              </a:rPr>
              <a:t>Clean and preprocess the collected dataset to handle missing values, remove duplicates, and treat outliers. Perform feature engineering to extract meaningful features such as peak traffic hours, accident-prone weather conditions, and high-risk road categories.</a:t>
            </a:r>
          </a:p>
          <a:p>
            <a:pPr>
              <a:lnSpc>
                <a:spcPct val="100000"/>
              </a:lnSpc>
            </a:pPr>
            <a:r>
              <a:rPr lang="en-US" sz="1500" b="1" dirty="0">
                <a:latin typeface="Franklin Gothic Book" panose="020B0503020102020204" pitchFamily="34" charset="0"/>
              </a:rPr>
              <a:t>Machine Learning Algorithm: </a:t>
            </a:r>
            <a:r>
              <a:rPr lang="en-US" sz="1500" dirty="0">
                <a:latin typeface="Franklin Gothic Book" panose="020B0503020102020204" pitchFamily="34" charset="0"/>
              </a:rPr>
              <a:t>Implement supervised machine learning algorithms such as Logistic Regression, Decision Tree, and Random Forest to classify accident severity levels.</a:t>
            </a:r>
            <a:br>
              <a:rPr lang="en-US" sz="1500" dirty="0">
                <a:latin typeface="Franklin Gothic Book" panose="020B0503020102020204" pitchFamily="34" charset="0"/>
              </a:rPr>
            </a:br>
            <a:r>
              <a:rPr lang="en-US" sz="1500" dirty="0">
                <a:latin typeface="Franklin Gothic Book" panose="020B0503020102020204" pitchFamily="34" charset="0"/>
              </a:rPr>
              <a:t>Select the best-performing model based on evaluation metrics and optimize it using hyperparameter tuning techniques.</a:t>
            </a:r>
          </a:p>
          <a:p>
            <a:pPr>
              <a:lnSpc>
                <a:spcPct val="100000"/>
              </a:lnSpc>
            </a:pPr>
            <a:r>
              <a:rPr lang="en-US" sz="1500" b="1" dirty="0">
                <a:latin typeface="Franklin Gothic Book" panose="020B0503020102020204" pitchFamily="34" charset="0"/>
              </a:rPr>
              <a:t>Deployment: </a:t>
            </a:r>
            <a:r>
              <a:rPr lang="en-US" sz="1500" dirty="0">
                <a:latin typeface="Franklin Gothic Book" panose="020B0503020102020204" pitchFamily="34" charset="0"/>
              </a:rPr>
              <a:t>Develop a user-friendly web interface that allows users to input accident-related parameters and receive severity predictions instantly.</a:t>
            </a:r>
            <a:br>
              <a:rPr lang="en-US" sz="1500" dirty="0">
                <a:latin typeface="Franklin Gothic Book" panose="020B0503020102020204" pitchFamily="34" charset="0"/>
              </a:rPr>
            </a:br>
            <a:r>
              <a:rPr lang="en-US" sz="1500" dirty="0">
                <a:latin typeface="Franklin Gothic Book" panose="020B0503020102020204" pitchFamily="34" charset="0"/>
              </a:rPr>
              <a:t>Deploy the trained model using Microsoft Azure Machine Learning as a real-time endpoint and host the application using Azure App Service for scalability and reliability.</a:t>
            </a:r>
          </a:p>
          <a:p>
            <a:pPr>
              <a:lnSpc>
                <a:spcPct val="100000"/>
              </a:lnSpc>
            </a:pPr>
            <a:r>
              <a:rPr lang="en-US" sz="1500" b="1" dirty="0">
                <a:latin typeface="Franklin Gothic Book" panose="020B0503020102020204" pitchFamily="34" charset="0"/>
              </a:rPr>
              <a:t>Result: </a:t>
            </a:r>
            <a:r>
              <a:rPr lang="en-US" sz="1500" dirty="0">
                <a:latin typeface="Franklin Gothic Book" panose="020B0503020102020204" pitchFamily="34" charset="0"/>
              </a:rPr>
              <a:t>The system successfully predicts accident severity with high accuracy and provides real-time insights through cloud-based deployment. The integration of dashboards enables authorities to identify high-risk factors and take preventive measures effectively.</a:t>
            </a:r>
          </a:p>
          <a:p>
            <a:endParaRPr lang="en-US" sz="1500" dirty="0">
              <a:latin typeface="Franklin Gothic Book" panose="020B0503020102020204" pitchFamily="34" charset="0"/>
            </a:endParaRPr>
          </a:p>
          <a:p>
            <a:endParaRPr lang="en-US" sz="1500" dirty="0">
              <a:latin typeface="Franklin Gothic Book" panose="020B0503020102020204" pitchFamily="34" charset="0"/>
            </a:endParaRPr>
          </a:p>
          <a:p>
            <a:pPr marL="0" indent="0" algn="just">
              <a:buNone/>
            </a:pPr>
            <a:endParaRPr lang="en-US" sz="1500" dirty="0">
              <a:latin typeface="Franklin Gothic Book" panose="020B0503020102020204" pitchFamily="34" charset="0"/>
            </a:endParaRPr>
          </a:p>
        </p:txBody>
      </p:sp>
    </p:spTree>
    <p:extLst>
      <p:ext uri="{BB962C8B-B14F-4D97-AF65-F5344CB8AC3E}">
        <p14:creationId xmlns:p14="http://schemas.microsoft.com/office/powerpoint/2010/main" val="20413963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292D15-41B4-89C1-0EA3-03BC9FA16F97}"/>
              </a:ext>
            </a:extLst>
          </p:cNvPr>
          <p:cNvSpPr>
            <a:spLocks noGrp="1"/>
          </p:cNvSpPr>
          <p:nvPr>
            <p:ph type="title"/>
          </p:nvPr>
        </p:nvSpPr>
        <p:spPr>
          <a:xfrm>
            <a:off x="-548" y="699528"/>
            <a:ext cx="10515600" cy="1325563"/>
          </a:xfrm>
        </p:spPr>
        <p:txBody>
          <a:bodyPr lIns="91440" tIns="45720" rIns="91440" bIns="45720" anchor="t">
            <a:normAutofit/>
          </a:bodyPr>
          <a:lstStyle/>
          <a:p>
            <a:r>
              <a:rPr lang="en-US" sz="4000" b="1" cap="all">
                <a:latin typeface="Arial"/>
                <a:cs typeface="Arial"/>
              </a:rPr>
              <a:t>System  Approach:</a:t>
            </a:r>
            <a:endParaRPr lang="en-US" sz="4000" dirty="0"/>
          </a:p>
        </p:txBody>
      </p:sp>
      <p:sp>
        <p:nvSpPr>
          <p:cNvPr id="3" name="Content Placeholder 2">
            <a:extLst>
              <a:ext uri="{FF2B5EF4-FFF2-40B4-BE49-F238E27FC236}">
                <a16:creationId xmlns:a16="http://schemas.microsoft.com/office/drawing/2014/main" id="{FE07E8EE-7F26-D809-3523-C58876935A4E}"/>
              </a:ext>
            </a:extLst>
          </p:cNvPr>
          <p:cNvSpPr>
            <a:spLocks noGrp="1"/>
          </p:cNvSpPr>
          <p:nvPr>
            <p:ph idx="1"/>
          </p:nvPr>
        </p:nvSpPr>
        <p:spPr>
          <a:xfrm>
            <a:off x="317409" y="1715586"/>
            <a:ext cx="10515600" cy="4251960"/>
          </a:xfrm>
        </p:spPr>
        <p:txBody>
          <a:bodyPr vert="horz" lIns="91440" tIns="45720" rIns="91440" bIns="45720" rtlCol="0">
            <a:normAutofit/>
          </a:bodyPr>
          <a:lstStyle/>
          <a:p>
            <a:pPr marL="305435" indent="-305435">
              <a:spcBef>
                <a:spcPct val="20000"/>
              </a:spcBef>
              <a:spcAft>
                <a:spcPts val="600"/>
              </a:spcAft>
              <a:buFont typeface="Arial"/>
              <a:buChar char="•"/>
            </a:pPr>
            <a:r>
              <a:rPr lang="en-IN" sz="2200" b="1" dirty="0">
                <a:latin typeface="Franklin Gothic Book"/>
              </a:rPr>
              <a:t>System requirements :</a:t>
            </a:r>
          </a:p>
          <a:p>
            <a:pPr marL="0" indent="0">
              <a:spcBef>
                <a:spcPct val="20000"/>
              </a:spcBef>
              <a:spcAft>
                <a:spcPts val="600"/>
              </a:spcAft>
              <a:buNone/>
            </a:pPr>
            <a:r>
              <a:rPr lang="en-IN" sz="2200" b="1" dirty="0">
                <a:latin typeface="Franklin Gothic Book"/>
              </a:rPr>
              <a:t> </a:t>
            </a:r>
            <a:r>
              <a:rPr lang="en-IN" sz="2200" dirty="0">
                <a:latin typeface="Franklin Gothic Book"/>
              </a:rPr>
              <a:t>Minimum 8 </a:t>
            </a:r>
            <a:r>
              <a:rPr lang="en-IN" sz="2200" dirty="0" err="1">
                <a:latin typeface="Franklin Gothic Book"/>
              </a:rPr>
              <a:t>gb</a:t>
            </a:r>
            <a:r>
              <a:rPr lang="en-IN" sz="2200" dirty="0">
                <a:latin typeface="Franklin Gothic Book"/>
              </a:rPr>
              <a:t> Ram, Intel i5 processor or above, Stable Internet Connection</a:t>
            </a:r>
            <a:endParaRPr lang="en-US" sz="2200" dirty="0">
              <a:latin typeface="Franklin Gothic Book"/>
            </a:endParaRPr>
          </a:p>
          <a:p>
            <a:pPr marL="305435" indent="-305435">
              <a:spcBef>
                <a:spcPct val="20000"/>
              </a:spcBef>
              <a:spcAft>
                <a:spcPts val="600"/>
              </a:spcAft>
              <a:buFont typeface="Arial"/>
              <a:buChar char="•"/>
            </a:pPr>
            <a:r>
              <a:rPr lang="en-IN" sz="2200" b="1" dirty="0">
                <a:latin typeface="Franklin Gothic Book"/>
              </a:rPr>
              <a:t>Library required to build the model :</a:t>
            </a:r>
          </a:p>
          <a:p>
            <a:pPr marL="0" indent="0">
              <a:spcBef>
                <a:spcPct val="20000"/>
              </a:spcBef>
              <a:spcAft>
                <a:spcPts val="600"/>
              </a:spcAft>
              <a:buNone/>
            </a:pPr>
            <a:r>
              <a:rPr lang="en-IN" sz="2200" dirty="0">
                <a:latin typeface="Franklin Gothic Book"/>
              </a:rPr>
              <a:t>Python (3.8 or above)</a:t>
            </a:r>
          </a:p>
          <a:p>
            <a:pPr marL="0" indent="0">
              <a:spcBef>
                <a:spcPct val="20000"/>
              </a:spcBef>
              <a:spcAft>
                <a:spcPts val="600"/>
              </a:spcAft>
              <a:buNone/>
            </a:pPr>
            <a:r>
              <a:rPr lang="en-IN" sz="2200" dirty="0">
                <a:latin typeface="Franklin Gothic Book"/>
              </a:rPr>
              <a:t>VS Code</a:t>
            </a:r>
          </a:p>
          <a:p>
            <a:pPr marL="0" indent="0">
              <a:spcBef>
                <a:spcPct val="20000"/>
              </a:spcBef>
              <a:spcAft>
                <a:spcPts val="600"/>
              </a:spcAft>
              <a:buNone/>
            </a:pPr>
            <a:r>
              <a:rPr lang="en-IN" sz="2200" dirty="0">
                <a:latin typeface="Franklin Gothic Book"/>
              </a:rPr>
              <a:t>Microsoft Azure Account </a:t>
            </a:r>
          </a:p>
          <a:p>
            <a:pPr marL="0" indent="0">
              <a:spcBef>
                <a:spcPct val="20000"/>
              </a:spcBef>
              <a:spcAft>
                <a:spcPts val="600"/>
              </a:spcAft>
              <a:buNone/>
            </a:pPr>
            <a:r>
              <a:rPr lang="en-IN" sz="2200" dirty="0">
                <a:latin typeface="Franklin Gothic Book"/>
              </a:rPr>
              <a:t>Microsoft Machine Learning Workspace </a:t>
            </a:r>
          </a:p>
          <a:p>
            <a:pPr marL="0" indent="0">
              <a:spcBef>
                <a:spcPct val="20000"/>
              </a:spcBef>
              <a:spcAft>
                <a:spcPts val="600"/>
              </a:spcAft>
              <a:buNone/>
            </a:pPr>
            <a:r>
              <a:rPr lang="en-IN" sz="2200" dirty="0">
                <a:latin typeface="Franklin Gothic Book"/>
              </a:rPr>
              <a:t>Azure SQL Database</a:t>
            </a:r>
          </a:p>
          <a:p>
            <a:pPr marL="0" indent="0">
              <a:spcBef>
                <a:spcPct val="20000"/>
              </a:spcBef>
              <a:spcAft>
                <a:spcPts val="600"/>
              </a:spcAft>
              <a:buNone/>
            </a:pPr>
            <a:r>
              <a:rPr lang="en-IN" sz="2200" dirty="0">
                <a:latin typeface="Franklin Gothic Book"/>
              </a:rPr>
              <a:t> Azure App Service</a:t>
            </a:r>
            <a:endParaRPr lang="en-GB" sz="2200" dirty="0"/>
          </a:p>
        </p:txBody>
      </p:sp>
    </p:spTree>
    <p:extLst>
      <p:ext uri="{BB962C8B-B14F-4D97-AF65-F5344CB8AC3E}">
        <p14:creationId xmlns:p14="http://schemas.microsoft.com/office/powerpoint/2010/main" val="350112512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3DBEE6-616C-2711-86DB-C62E77D17F92}"/>
              </a:ext>
            </a:extLst>
          </p:cNvPr>
          <p:cNvSpPr>
            <a:spLocks noGrp="1"/>
          </p:cNvSpPr>
          <p:nvPr>
            <p:ph type="title"/>
          </p:nvPr>
        </p:nvSpPr>
        <p:spPr>
          <a:xfrm>
            <a:off x="-1191" y="686594"/>
            <a:ext cx="10515600" cy="1325563"/>
          </a:xfrm>
        </p:spPr>
        <p:txBody>
          <a:bodyPr lIns="91440" tIns="45720" rIns="91440" bIns="45720" anchor="t">
            <a:normAutofit/>
          </a:bodyPr>
          <a:lstStyle/>
          <a:p>
            <a:r>
              <a:rPr lang="en-US" sz="4000" b="1" cap="all" dirty="0">
                <a:latin typeface="Arial"/>
                <a:cs typeface="Arial"/>
              </a:rPr>
              <a:t>Algorithm &amp; Deployment:</a:t>
            </a:r>
            <a:endParaRPr lang="en-US" sz="4000" dirty="0"/>
          </a:p>
        </p:txBody>
      </p:sp>
      <p:sp>
        <p:nvSpPr>
          <p:cNvPr id="3" name="Content Placeholder 2">
            <a:extLst>
              <a:ext uri="{FF2B5EF4-FFF2-40B4-BE49-F238E27FC236}">
                <a16:creationId xmlns:a16="http://schemas.microsoft.com/office/drawing/2014/main" id="{B5107410-DE3D-5F62-F9D7-11EAEA92F0BB}"/>
              </a:ext>
            </a:extLst>
          </p:cNvPr>
          <p:cNvSpPr>
            <a:spLocks noGrp="1"/>
          </p:cNvSpPr>
          <p:nvPr>
            <p:ph idx="1"/>
          </p:nvPr>
        </p:nvSpPr>
        <p:spPr>
          <a:xfrm>
            <a:off x="248038" y="1349375"/>
            <a:ext cx="10515600" cy="4251960"/>
          </a:xfrm>
        </p:spPr>
        <p:txBody>
          <a:bodyPr vert="horz" lIns="91440" tIns="45720" rIns="91440" bIns="45720" rtlCol="0">
            <a:noAutofit/>
          </a:bodyPr>
          <a:lstStyle/>
          <a:p>
            <a:pPr algn="just"/>
            <a:r>
              <a:rPr lang="en-US" sz="1600" b="1" dirty="0">
                <a:latin typeface="Franklin Gothic Book" panose="020B0503020102020204" pitchFamily="34" charset="0"/>
              </a:rPr>
              <a:t>Algorithm Selection:</a:t>
            </a:r>
          </a:p>
          <a:p>
            <a:pPr marL="0" indent="0" algn="just">
              <a:buNone/>
            </a:pPr>
            <a:r>
              <a:rPr lang="en-US" sz="1600" dirty="0">
                <a:latin typeface="Franklin Gothic Book" panose="020B0503020102020204" pitchFamily="34" charset="0"/>
              </a:rPr>
              <a:t>The chosen algorithm for predicting accident severity is the Random Forest Classifier, a supervised machine learning algorithm used for classification problems. Since accident severity prediction involves categorizing outcomes into Low, Medium, and High levels based on multiple influencing factors, Random Forest is suitable due to its high accuracy, robustness, and ability to handle both numerical and categorical data. </a:t>
            </a:r>
          </a:p>
          <a:p>
            <a:pPr algn="just"/>
            <a:r>
              <a:rPr lang="en-US" sz="1600" b="1" dirty="0">
                <a:latin typeface="Franklin Gothic Book" panose="020B0503020102020204" pitchFamily="34" charset="0"/>
              </a:rPr>
              <a:t>Data Input:</a:t>
            </a:r>
          </a:p>
          <a:p>
            <a:pPr marL="0" indent="0" algn="just">
              <a:buNone/>
            </a:pPr>
            <a:r>
              <a:rPr lang="en-US" sz="1600" dirty="0">
                <a:latin typeface="Franklin Gothic Book" panose="020B0503020102020204" pitchFamily="34" charset="0"/>
              </a:rPr>
              <a:t>The algorithm uses structured historical accident data as input. The key input features include weather condition, road type, vehicle type, speed, light condition, traffic density, location, and time of accident. These features significantly influence accident severity.</a:t>
            </a:r>
          </a:p>
          <a:p>
            <a:pPr algn="just"/>
            <a:r>
              <a:rPr lang="en-US" sz="1600" b="1" dirty="0">
                <a:latin typeface="Franklin Gothic Book" panose="020B0503020102020204" pitchFamily="34" charset="0"/>
              </a:rPr>
              <a:t>Training Process:</a:t>
            </a:r>
          </a:p>
          <a:p>
            <a:pPr marL="0" indent="0" algn="just">
              <a:buNone/>
            </a:pPr>
            <a:r>
              <a:rPr lang="en-US" sz="1600" dirty="0">
                <a:latin typeface="Franklin Gothic Book" panose="020B0503020102020204" pitchFamily="34" charset="0"/>
              </a:rPr>
              <a:t>The dataset is first preprocessed to handle missing values, remove inconsistencies, and normalize numerical features. After preprocessing, the dataset is divided into training and testing sets (typically 80% training and 20% testing). The Random Forest model is trained using the training dataset. Hyperparameters such as the number of trees (</a:t>
            </a:r>
            <a:r>
              <a:rPr lang="en-US" sz="1600" dirty="0" err="1">
                <a:latin typeface="Franklin Gothic Book" panose="020B0503020102020204" pitchFamily="34" charset="0"/>
              </a:rPr>
              <a:t>n_estimators</a:t>
            </a:r>
            <a:r>
              <a:rPr lang="en-US" sz="1600" dirty="0">
                <a:latin typeface="Franklin Gothic Book" panose="020B0503020102020204" pitchFamily="34" charset="0"/>
              </a:rPr>
              <a:t>) and maximum tree depth are optimized using cross-validation techniques to improve performance. </a:t>
            </a:r>
          </a:p>
          <a:p>
            <a:pPr algn="just"/>
            <a:r>
              <a:rPr lang="en-US" sz="1600" b="1" dirty="0">
                <a:latin typeface="Franklin Gothic Book" panose="020B0503020102020204" pitchFamily="34" charset="0"/>
              </a:rPr>
              <a:t>Prediction Process:</a:t>
            </a:r>
          </a:p>
          <a:p>
            <a:pPr marL="0" indent="0" algn="just">
              <a:buNone/>
            </a:pPr>
            <a:r>
              <a:rPr lang="en-US" sz="1600" dirty="0">
                <a:latin typeface="Franklin Gothic Book" panose="020B0503020102020204" pitchFamily="34" charset="0"/>
              </a:rPr>
              <a:t>Once the model is trained and deployed, it receives new accident-related input data through a web interface. The input data undergoes the same preprocessing steps applied during training. The trained Random Forest model then processes the input and calculates probability scores for each severity class. </a:t>
            </a:r>
          </a:p>
          <a:p>
            <a:pPr marL="0" indent="0" algn="just">
              <a:buNone/>
            </a:pPr>
            <a:endParaRPr lang="en-US" sz="1600" dirty="0">
              <a:latin typeface="Franklin Gothic Book" panose="020B0503020102020204" pitchFamily="34" charset="0"/>
            </a:endParaRPr>
          </a:p>
          <a:p>
            <a:pPr marL="0" indent="0" algn="just">
              <a:buNone/>
            </a:pPr>
            <a:endParaRPr lang="en-US" sz="1600" dirty="0">
              <a:latin typeface="Franklin Gothic Book" panose="020B0503020102020204" pitchFamily="34" charset="0"/>
            </a:endParaRPr>
          </a:p>
          <a:p>
            <a:pPr marL="0" indent="0" algn="just">
              <a:buNone/>
            </a:pPr>
            <a:endParaRPr lang="en-US" sz="1600" dirty="0">
              <a:latin typeface="Franklin Gothic Book" panose="020B0503020102020204" pitchFamily="34" charset="0"/>
            </a:endParaRPr>
          </a:p>
          <a:p>
            <a:pPr marL="0" indent="0" algn="just">
              <a:buNone/>
            </a:pPr>
            <a:endParaRPr lang="en-US" sz="1400" dirty="0">
              <a:latin typeface="Franklin Gothic Book" panose="020B0503020102020204" pitchFamily="34" charset="0"/>
            </a:endParaRPr>
          </a:p>
          <a:p>
            <a:pPr algn="just">
              <a:lnSpc>
                <a:spcPct val="100000"/>
              </a:lnSpc>
            </a:pPr>
            <a:endParaRPr lang="en-US" sz="1400" dirty="0">
              <a:latin typeface="Franklin Gothic Book" panose="020B0503020102020204" pitchFamily="34" charset="0"/>
            </a:endParaRPr>
          </a:p>
        </p:txBody>
      </p:sp>
    </p:spTree>
    <p:extLst>
      <p:ext uri="{BB962C8B-B14F-4D97-AF65-F5344CB8AC3E}">
        <p14:creationId xmlns:p14="http://schemas.microsoft.com/office/powerpoint/2010/main" val="119908439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8F756E-D4E1-5A9A-636A-7FA06EC394F3}"/>
              </a:ext>
            </a:extLst>
          </p:cNvPr>
          <p:cNvSpPr>
            <a:spLocks noGrp="1"/>
          </p:cNvSpPr>
          <p:nvPr>
            <p:ph type="title"/>
          </p:nvPr>
        </p:nvSpPr>
        <p:spPr>
          <a:xfrm>
            <a:off x="-1191" y="603250"/>
            <a:ext cx="10515600" cy="1325563"/>
          </a:xfrm>
        </p:spPr>
        <p:txBody>
          <a:bodyPr lIns="91440" tIns="45720" rIns="91440" bIns="45720" anchor="t">
            <a:normAutofit/>
          </a:bodyPr>
          <a:lstStyle/>
          <a:p>
            <a:r>
              <a:rPr lang="en-US" sz="4000" b="1" cap="all" dirty="0">
                <a:latin typeface="Arial"/>
                <a:cs typeface="Arial"/>
              </a:rPr>
              <a:t>Result:</a:t>
            </a:r>
            <a:endParaRPr lang="en-US" sz="4000" dirty="0"/>
          </a:p>
        </p:txBody>
      </p:sp>
      <p:sp>
        <p:nvSpPr>
          <p:cNvPr id="3" name="Content Placeholder 2">
            <a:extLst>
              <a:ext uri="{FF2B5EF4-FFF2-40B4-BE49-F238E27FC236}">
                <a16:creationId xmlns:a16="http://schemas.microsoft.com/office/drawing/2014/main" id="{66102C9B-C4AF-D0DB-DE74-862D9812001C}"/>
              </a:ext>
            </a:extLst>
          </p:cNvPr>
          <p:cNvSpPr>
            <a:spLocks noGrp="1"/>
          </p:cNvSpPr>
          <p:nvPr>
            <p:ph idx="1"/>
          </p:nvPr>
        </p:nvSpPr>
        <p:spPr>
          <a:xfrm>
            <a:off x="338137" y="1584103"/>
            <a:ext cx="10515600" cy="4251960"/>
          </a:xfrm>
        </p:spPr>
        <p:txBody>
          <a:bodyPr vert="horz" lIns="91440" tIns="45720" rIns="91440" bIns="45720" rtlCol="0">
            <a:normAutofit fontScale="85000" lnSpcReduction="20000"/>
          </a:bodyPr>
          <a:lstStyle/>
          <a:p>
            <a:pPr algn="just"/>
            <a:r>
              <a:rPr lang="en-US" sz="2400" dirty="0">
                <a:latin typeface="Franklin Gothic Book" panose="020B0503020102020204" pitchFamily="34" charset="0"/>
              </a:rPr>
              <a:t>The developed machine learning model successfully predicts accident severity levels (Low, Medium, High) based on input parameters such as weather condition, road type, vehicle type, speed, light condition, and time of accident. After training and evaluation using the Random Forest Classifier, the model achieved an overall accuracy of approximately </a:t>
            </a:r>
            <a:r>
              <a:rPr lang="en-US" sz="2400" b="1" dirty="0">
                <a:latin typeface="Franklin Gothic Book" panose="020B0503020102020204" pitchFamily="34" charset="0"/>
              </a:rPr>
              <a:t>85%–90%</a:t>
            </a:r>
            <a:r>
              <a:rPr lang="en-US" sz="2400" dirty="0">
                <a:latin typeface="Franklin Gothic Book" panose="020B0503020102020204" pitchFamily="34" charset="0"/>
              </a:rPr>
              <a:t> on the testing dataset.</a:t>
            </a:r>
          </a:p>
          <a:p>
            <a:pPr algn="just"/>
            <a:r>
              <a:rPr lang="en-US" sz="2400" dirty="0">
                <a:latin typeface="Franklin Gothic Book" panose="020B0503020102020204" pitchFamily="34" charset="0"/>
              </a:rPr>
              <a:t>The confusion matrix analysis shows that the model effectively distinguishes between different severity classes with high precision and recall values. The F1-score indicates balanced performance across all categories, ensuring reliable classification results.</a:t>
            </a:r>
          </a:p>
          <a:p>
            <a:pPr algn="just"/>
            <a:r>
              <a:rPr lang="en-US" sz="2400" dirty="0">
                <a:latin typeface="Franklin Gothic Book" panose="020B0503020102020204" pitchFamily="34" charset="0"/>
              </a:rPr>
              <a:t>The trained model was successfully deployed using Azure Machine Learning as a real-time endpoint. The web application hosted on Azure App Service allows users to input accident details and receive instant severity predictions through a REST API. The deployment status remained healthy, demonstrating stable cloud performance.</a:t>
            </a:r>
          </a:p>
          <a:p>
            <a:pPr algn="just"/>
            <a:r>
              <a:rPr lang="en-US" sz="2400" dirty="0">
                <a:latin typeface="Franklin Gothic Book" panose="020B0503020102020204" pitchFamily="34" charset="0"/>
              </a:rPr>
              <a:t>Additionally, Power BI dashboards were integrated to visualize accident trends, high-risk weather conditions, peak accident times, and severity distribution across different road types. These visual insights help authorities identify accident-prone patterns and support data-driven decision-making.</a:t>
            </a:r>
          </a:p>
        </p:txBody>
      </p:sp>
    </p:spTree>
    <p:extLst>
      <p:ext uri="{BB962C8B-B14F-4D97-AF65-F5344CB8AC3E}">
        <p14:creationId xmlns:p14="http://schemas.microsoft.com/office/powerpoint/2010/main" val="5874253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TextBox 13">
            <a:extLst>
              <a:ext uri="{FF2B5EF4-FFF2-40B4-BE49-F238E27FC236}">
                <a16:creationId xmlns:a16="http://schemas.microsoft.com/office/drawing/2014/main" id="{ACCBB534-41DD-00B2-2F2F-57A91210D571}"/>
              </a:ext>
            </a:extLst>
          </p:cNvPr>
          <p:cNvSpPr txBox="1"/>
          <p:nvPr/>
        </p:nvSpPr>
        <p:spPr>
          <a:xfrm>
            <a:off x="339969" y="969221"/>
            <a:ext cx="11453446" cy="3693319"/>
          </a:xfrm>
          <a:prstGeom prst="rect">
            <a:avLst/>
          </a:prstGeom>
          <a:noFill/>
        </p:spPr>
        <p:txBody>
          <a:bodyPr wrap="square">
            <a:spAutoFit/>
          </a:bodyPr>
          <a:lstStyle/>
          <a:p>
            <a:pPr>
              <a:buNone/>
            </a:pPr>
            <a:r>
              <a:rPr lang="en-IN" b="1" dirty="0">
                <a:latin typeface="Franklin Gothic Book" panose="020B0503020102020204" pitchFamily="34" charset="0"/>
              </a:rPr>
              <a:t>1️⃣ Data Storage Output</a:t>
            </a:r>
          </a:p>
          <a:p>
            <a:pPr>
              <a:buNone/>
            </a:pPr>
            <a:r>
              <a:rPr lang="en-IN" b="1" dirty="0">
                <a:latin typeface="Franklin Gothic Book" panose="020B0503020102020204" pitchFamily="34" charset="0"/>
              </a:rPr>
              <a:t>🔹 Dataset Used:</a:t>
            </a:r>
          </a:p>
          <a:p>
            <a:pPr>
              <a:buFont typeface="Arial" panose="020B0604020202020204" pitchFamily="34" charset="0"/>
              <a:buChar char="•"/>
            </a:pPr>
            <a:r>
              <a:rPr lang="en-IN" dirty="0">
                <a:latin typeface="Franklin Gothic Book" panose="020B0503020102020204" pitchFamily="34" charset="0"/>
              </a:rPr>
              <a:t>RTA Dataset (Road Traffic Accident Dataset – RTA Dataset.csv)</a:t>
            </a:r>
          </a:p>
          <a:p>
            <a:pPr>
              <a:buFont typeface="Arial" panose="020B0604020202020204" pitchFamily="34" charset="0"/>
              <a:buChar char="•"/>
            </a:pPr>
            <a:r>
              <a:rPr lang="en-IN" dirty="0">
                <a:latin typeface="Franklin Gothic Book" panose="020B0503020102020204" pitchFamily="34" charset="0"/>
              </a:rPr>
              <a:t>Stored securely in:</a:t>
            </a:r>
          </a:p>
          <a:p>
            <a:r>
              <a:rPr lang="en-IN" dirty="0">
                <a:latin typeface="Franklin Gothic Book" panose="020B0503020102020204" pitchFamily="34" charset="0"/>
              </a:rPr>
              <a:t>Azure Blob Storage</a:t>
            </a:r>
          </a:p>
          <a:p>
            <a:r>
              <a:rPr lang="en-IN" b="1" dirty="0">
                <a:latin typeface="Franklin Gothic Book" panose="020B0503020102020204" pitchFamily="34" charset="0"/>
              </a:rPr>
              <a:t>🔹 Output:</a:t>
            </a:r>
          </a:p>
          <a:p>
            <a:r>
              <a:rPr lang="en-IN" dirty="0">
                <a:latin typeface="Franklin Gothic Book" panose="020B0503020102020204" pitchFamily="34" charset="0"/>
              </a:rPr>
              <a:t>Raw accident data stored in cloud container </a:t>
            </a:r>
            <a:r>
              <a:rPr lang="en-IN" dirty="0" err="1">
                <a:latin typeface="Franklin Gothic Book" panose="020B0503020102020204" pitchFamily="34" charset="0"/>
              </a:rPr>
              <a:t>Preprocessed</a:t>
            </a:r>
            <a:r>
              <a:rPr lang="en-IN" dirty="0">
                <a:latin typeface="Franklin Gothic Book" panose="020B0503020102020204" pitchFamily="34" charset="0"/>
              </a:rPr>
              <a:t> dataset saved as cleaned CSV Version-controlled dataset for model training</a:t>
            </a:r>
          </a:p>
          <a:p>
            <a:r>
              <a:rPr lang="en-IN" dirty="0">
                <a:latin typeface="Franklin Gothic Book" panose="020B0503020102020204" pitchFamily="34" charset="0"/>
              </a:rPr>
              <a:t>✔ Secure</a:t>
            </a:r>
            <a:br>
              <a:rPr lang="en-IN" dirty="0">
                <a:latin typeface="Franklin Gothic Book" panose="020B0503020102020204" pitchFamily="34" charset="0"/>
              </a:rPr>
            </a:br>
            <a:r>
              <a:rPr lang="en-IN" dirty="0">
                <a:latin typeface="Franklin Gothic Book" panose="020B0503020102020204" pitchFamily="34" charset="0"/>
              </a:rPr>
              <a:t>✔ Scalable</a:t>
            </a:r>
            <a:br>
              <a:rPr lang="en-IN" dirty="0">
                <a:latin typeface="Franklin Gothic Book" panose="020B0503020102020204" pitchFamily="34" charset="0"/>
              </a:rPr>
            </a:br>
            <a:r>
              <a:rPr lang="en-IN" dirty="0">
                <a:latin typeface="Franklin Gothic Book" panose="020B0503020102020204" pitchFamily="34" charset="0"/>
              </a:rPr>
              <a:t>✔ Accessible from Azure ML workspace</a:t>
            </a:r>
          </a:p>
          <a:p>
            <a:endParaRPr lang="en-IN" dirty="0"/>
          </a:p>
          <a:p>
            <a:pPr marL="742950" lvl="1" indent="-285750">
              <a:buFont typeface="Arial" panose="020B0604020202020204" pitchFamily="34" charset="0"/>
              <a:buChar char="•"/>
            </a:pPr>
            <a:endParaRPr lang="en-IN" dirty="0"/>
          </a:p>
        </p:txBody>
      </p:sp>
      <p:pic>
        <p:nvPicPr>
          <p:cNvPr id="18" name="Picture 17">
            <a:extLst>
              <a:ext uri="{FF2B5EF4-FFF2-40B4-BE49-F238E27FC236}">
                <a16:creationId xmlns:a16="http://schemas.microsoft.com/office/drawing/2014/main" id="{C125910D-63BA-A0B6-0BD5-3F4E903E7F5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197176" y="4394688"/>
            <a:ext cx="4364208" cy="2064582"/>
          </a:xfrm>
          <a:prstGeom prst="rect">
            <a:avLst/>
          </a:prstGeom>
        </p:spPr>
      </p:pic>
    </p:spTree>
    <p:extLst>
      <p:ext uri="{BB962C8B-B14F-4D97-AF65-F5344CB8AC3E}">
        <p14:creationId xmlns:p14="http://schemas.microsoft.com/office/powerpoint/2010/main" val="346343796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C205612C-44F9-9E11-08E8-9AC4F9CA229E}"/>
              </a:ext>
            </a:extLst>
          </p:cNvPr>
          <p:cNvPicPr>
            <a:picLocks noChangeAspect="1"/>
          </p:cNvPicPr>
          <p:nvPr/>
        </p:nvPicPr>
        <p:blipFill>
          <a:blip r:embed="rId2">
            <a:extLst>
              <a:ext uri="{28A0092B-C50C-407E-A947-70E740481C1C}">
                <a14:useLocalDpi xmlns:a14="http://schemas.microsoft.com/office/drawing/2010/main" val="0"/>
              </a:ext>
            </a:extLst>
          </a:blip>
          <a:srcRect l="19799" t="-2543" b="1"/>
          <a:stretch>
            <a:fillRect/>
          </a:stretch>
        </p:blipFill>
        <p:spPr>
          <a:xfrm>
            <a:off x="117230" y="691660"/>
            <a:ext cx="11922370" cy="5861539"/>
          </a:xfrm>
          <a:prstGeom prst="rect">
            <a:avLst/>
          </a:prstGeom>
        </p:spPr>
      </p:pic>
    </p:spTree>
    <p:extLst>
      <p:ext uri="{BB962C8B-B14F-4D97-AF65-F5344CB8AC3E}">
        <p14:creationId xmlns:p14="http://schemas.microsoft.com/office/powerpoint/2010/main" val="60641236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A409E232-6A1A-0B52-3CF3-4E52101DE2A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866927" y="735829"/>
            <a:ext cx="9040559" cy="5785958"/>
          </a:xfrm>
          <a:prstGeom prst="rect">
            <a:avLst/>
          </a:prstGeom>
        </p:spPr>
      </p:pic>
    </p:spTree>
    <p:extLst>
      <p:ext uri="{BB962C8B-B14F-4D97-AF65-F5344CB8AC3E}">
        <p14:creationId xmlns:p14="http://schemas.microsoft.com/office/powerpoint/2010/main" val="155929948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B396BB-D4E8-514D-53F4-27AADA666CBB}"/>
              </a:ext>
            </a:extLst>
          </p:cNvPr>
          <p:cNvSpPr>
            <a:spLocks noGrp="1"/>
          </p:cNvSpPr>
          <p:nvPr>
            <p:ph type="title"/>
          </p:nvPr>
        </p:nvSpPr>
        <p:spPr>
          <a:xfrm>
            <a:off x="-548" y="606334"/>
            <a:ext cx="10515600" cy="1325563"/>
          </a:xfrm>
        </p:spPr>
        <p:txBody>
          <a:bodyPr lIns="91440" tIns="45720" rIns="91440" bIns="45720" anchor="t">
            <a:normAutofit/>
          </a:bodyPr>
          <a:lstStyle/>
          <a:p>
            <a:r>
              <a:rPr lang="en-US" sz="4000" b="1" cap="all">
                <a:latin typeface="Arial"/>
                <a:cs typeface="Arial"/>
              </a:rPr>
              <a:t>Conclusion:</a:t>
            </a:r>
            <a:endParaRPr lang="en-US" sz="4000" dirty="0"/>
          </a:p>
        </p:txBody>
      </p:sp>
      <p:sp>
        <p:nvSpPr>
          <p:cNvPr id="3" name="Content Placeholder 2">
            <a:extLst>
              <a:ext uri="{FF2B5EF4-FFF2-40B4-BE49-F238E27FC236}">
                <a16:creationId xmlns:a16="http://schemas.microsoft.com/office/drawing/2014/main" id="{21789DDB-698E-B624-5621-F9D79482FFED}"/>
              </a:ext>
            </a:extLst>
          </p:cNvPr>
          <p:cNvSpPr>
            <a:spLocks noGrp="1"/>
          </p:cNvSpPr>
          <p:nvPr>
            <p:ph idx="1"/>
          </p:nvPr>
        </p:nvSpPr>
        <p:spPr>
          <a:xfrm>
            <a:off x="262589" y="1622391"/>
            <a:ext cx="10515600" cy="4251960"/>
          </a:xfrm>
        </p:spPr>
        <p:txBody>
          <a:bodyPr vert="horz" lIns="91440" tIns="45720" rIns="91440" bIns="45720" rtlCol="0">
            <a:normAutofit fontScale="92500" lnSpcReduction="10000"/>
          </a:bodyPr>
          <a:lstStyle/>
          <a:p>
            <a:pPr algn="just"/>
            <a:r>
              <a:rPr lang="en-US" sz="2400" dirty="0">
                <a:latin typeface="Franklin Gothic Book" panose="020B0503020102020204" pitchFamily="34" charset="0"/>
              </a:rPr>
              <a:t>The AI-Based Traffic Accident Severity Prediction System successfully demonstrates how machine learning and cloud computing can be used to improve road safety analysis. By utilizing historical accident data and applying the Random Forest classification algorithm, the system accurately predicts accident severity levels (Low, Medium, High) based on factors such as weather conditions, road type, vehicle type, and time of day. The integration of Microsoft Azure services enabled scalable model training, secure data storage, and real-time deployment through web services. The deployed model provides quick and reliable predictions, which can assist traffic authorities and policymakers in identifying high-risk conditions and implementing preventive measures. The results show that machine learning models can effectively analyze complex accident-related factors and provide meaningful insights through dashboards and visualizations. This project highlights the importance of AI-driven decision support systems in reducing accident risks and enhancing public </a:t>
            </a:r>
            <a:r>
              <a:rPr lang="en-US" sz="2400" dirty="0" err="1">
                <a:latin typeface="Franklin Gothic Book" panose="020B0503020102020204" pitchFamily="34" charset="0"/>
              </a:rPr>
              <a:t>safety.Overall</a:t>
            </a:r>
            <a:r>
              <a:rPr lang="en-US" sz="2400" dirty="0">
                <a:latin typeface="Franklin Gothic Book" panose="020B0503020102020204" pitchFamily="34" charset="0"/>
              </a:rPr>
              <a:t>, the system proves that cloud-based AI solutions can play a significant role in modern traffic management and accident prevention strategies.</a:t>
            </a:r>
          </a:p>
          <a:p>
            <a:pPr algn="just"/>
            <a:endParaRPr lang="en-US" sz="2200" dirty="0">
              <a:latin typeface="Franklin Gothic Book" panose="020B0503020102020204" pitchFamily="34" charset="0"/>
            </a:endParaRPr>
          </a:p>
        </p:txBody>
      </p:sp>
    </p:spTree>
    <p:extLst>
      <p:ext uri="{BB962C8B-B14F-4D97-AF65-F5344CB8AC3E}">
        <p14:creationId xmlns:p14="http://schemas.microsoft.com/office/powerpoint/2010/main" val="224530960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D403C0-6D6C-CF0D-D01B-94F3DED1DC7F}"/>
              </a:ext>
            </a:extLst>
          </p:cNvPr>
          <p:cNvSpPr>
            <a:spLocks noGrp="1"/>
          </p:cNvSpPr>
          <p:nvPr>
            <p:ph type="title"/>
          </p:nvPr>
        </p:nvSpPr>
        <p:spPr>
          <a:xfrm>
            <a:off x="-548" y="606334"/>
            <a:ext cx="10515600" cy="1325563"/>
          </a:xfrm>
        </p:spPr>
        <p:txBody>
          <a:bodyPr lIns="91440" tIns="45720" rIns="91440" bIns="45720" anchor="t">
            <a:normAutofit/>
          </a:bodyPr>
          <a:lstStyle/>
          <a:p>
            <a:r>
              <a:rPr lang="en-US" sz="4000" b="1" cap="all">
                <a:latin typeface="Arial"/>
                <a:cs typeface="Arial"/>
              </a:rPr>
              <a:t>Future scope:</a:t>
            </a:r>
            <a:endParaRPr lang="en-US" sz="4000" dirty="0"/>
          </a:p>
        </p:txBody>
      </p:sp>
      <p:sp>
        <p:nvSpPr>
          <p:cNvPr id="3" name="Content Placeholder 2">
            <a:extLst>
              <a:ext uri="{FF2B5EF4-FFF2-40B4-BE49-F238E27FC236}">
                <a16:creationId xmlns:a16="http://schemas.microsoft.com/office/drawing/2014/main" id="{3F2C79AB-5BF9-3911-CAE8-5E44B0DF2236}"/>
              </a:ext>
            </a:extLst>
          </p:cNvPr>
          <p:cNvSpPr>
            <a:spLocks noGrp="1"/>
          </p:cNvSpPr>
          <p:nvPr>
            <p:ph idx="1"/>
          </p:nvPr>
        </p:nvSpPr>
        <p:spPr>
          <a:xfrm>
            <a:off x="268071" y="1304434"/>
            <a:ext cx="10515600" cy="4251960"/>
          </a:xfrm>
        </p:spPr>
        <p:txBody>
          <a:bodyPr vert="horz" lIns="91440" tIns="45720" rIns="91440" bIns="45720" rtlCol="0">
            <a:normAutofit/>
          </a:bodyPr>
          <a:lstStyle/>
          <a:p>
            <a:pPr marL="0" indent="0" algn="just">
              <a:spcBef>
                <a:spcPct val="20000"/>
              </a:spcBef>
              <a:spcAft>
                <a:spcPts val="600"/>
              </a:spcAft>
              <a:buNone/>
            </a:pPr>
            <a:endParaRPr lang="en-US" sz="2200" dirty="0">
              <a:latin typeface="Franklin Gothic Book" panose="020B0503020102020204" pitchFamily="34" charset="0"/>
            </a:endParaRPr>
          </a:p>
          <a:p>
            <a:pPr marL="0" indent="0" algn="just">
              <a:spcBef>
                <a:spcPct val="20000"/>
              </a:spcBef>
              <a:spcAft>
                <a:spcPts val="600"/>
              </a:spcAft>
              <a:buNone/>
            </a:pPr>
            <a:r>
              <a:rPr lang="en-US" sz="2200" dirty="0">
                <a:latin typeface="Franklin Gothic Book" panose="020B0503020102020204" pitchFamily="34" charset="0"/>
              </a:rPr>
              <a:t>The future scope of the </a:t>
            </a:r>
            <a:r>
              <a:rPr lang="en-US" sz="2200" b="1" dirty="0">
                <a:latin typeface="Franklin Gothic Book" panose="020B0503020102020204" pitchFamily="34" charset="0"/>
              </a:rPr>
              <a:t>AI-Based Traffic Accident Severity Prediction System</a:t>
            </a:r>
            <a:r>
              <a:rPr lang="en-US" sz="2200" dirty="0">
                <a:latin typeface="Franklin Gothic Book" panose="020B0503020102020204" pitchFamily="34" charset="0"/>
              </a:rPr>
              <a:t> includes integrating real-time traffic and weather APIs to enable live accident risk prediction. The system can be enhanced by connecting with IoT sensors and CCTV cameras as part of smart city infrastructure. Advanced deep learning models such as ANN, LSTM, and </a:t>
            </a:r>
            <a:r>
              <a:rPr lang="en-US" sz="2200" dirty="0" err="1">
                <a:latin typeface="Franklin Gothic Book" panose="020B0503020102020204" pitchFamily="34" charset="0"/>
              </a:rPr>
              <a:t>XGBoost</a:t>
            </a:r>
            <a:r>
              <a:rPr lang="en-US" sz="2200" dirty="0">
                <a:latin typeface="Franklin Gothic Book" panose="020B0503020102020204" pitchFamily="34" charset="0"/>
              </a:rPr>
              <a:t> can be implemented to improve prediction accuracy. Geospatial analysis and heatmap visualization can help identify accident-prone zones more effectively. A mobile application can be developed to provide real-time alerts to drivers and traffic authorities. Automated model retraining using Azure ML pipelines can ensure continuous performance improvement. Furthermore, the system can be expanded to multiple cities for large-scale, national-level traffic safety monitoring.</a:t>
            </a:r>
            <a:endParaRPr lang="en-GB" sz="2200" dirty="0">
              <a:latin typeface="Franklin Gothic Book" panose="020B0503020102020204" pitchFamily="34" charset="0"/>
            </a:endParaRPr>
          </a:p>
        </p:txBody>
      </p:sp>
    </p:spTree>
    <p:extLst>
      <p:ext uri="{BB962C8B-B14F-4D97-AF65-F5344CB8AC3E}">
        <p14:creationId xmlns:p14="http://schemas.microsoft.com/office/powerpoint/2010/main" val="374419967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9D7BEC-26CE-96DB-DC10-B2897FA510E0}"/>
              </a:ext>
            </a:extLst>
          </p:cNvPr>
          <p:cNvSpPr>
            <a:spLocks noGrp="1"/>
          </p:cNvSpPr>
          <p:nvPr>
            <p:ph type="title"/>
          </p:nvPr>
        </p:nvSpPr>
        <p:spPr>
          <a:xfrm>
            <a:off x="-548" y="606334"/>
            <a:ext cx="10515600" cy="1325563"/>
          </a:xfrm>
        </p:spPr>
        <p:txBody>
          <a:bodyPr lIns="91440" tIns="45720" rIns="91440" bIns="45720" anchor="t">
            <a:normAutofit/>
          </a:bodyPr>
          <a:lstStyle/>
          <a:p>
            <a:r>
              <a:rPr lang="en-US" sz="4000" b="1" cap="all">
                <a:latin typeface="Arial"/>
                <a:cs typeface="Arial"/>
              </a:rPr>
              <a:t>References:</a:t>
            </a:r>
            <a:endParaRPr lang="en-US" sz="4000"/>
          </a:p>
        </p:txBody>
      </p:sp>
      <p:sp>
        <p:nvSpPr>
          <p:cNvPr id="3" name="Content Placeholder 2">
            <a:extLst>
              <a:ext uri="{FF2B5EF4-FFF2-40B4-BE49-F238E27FC236}">
                <a16:creationId xmlns:a16="http://schemas.microsoft.com/office/drawing/2014/main" id="{5E6198D1-2392-A218-1A4C-10F40FCB8253}"/>
              </a:ext>
            </a:extLst>
          </p:cNvPr>
          <p:cNvSpPr>
            <a:spLocks noGrp="1"/>
          </p:cNvSpPr>
          <p:nvPr>
            <p:ph idx="1"/>
          </p:nvPr>
        </p:nvSpPr>
        <p:spPr>
          <a:xfrm>
            <a:off x="196804" y="1551125"/>
            <a:ext cx="10515600" cy="4251960"/>
          </a:xfrm>
        </p:spPr>
        <p:txBody>
          <a:bodyPr vert="horz" lIns="91440" tIns="45720" rIns="91440" bIns="45720" rtlCol="0" anchor="t">
            <a:normAutofit/>
          </a:bodyPr>
          <a:lstStyle/>
          <a:p>
            <a:pPr marL="0" indent="0">
              <a:lnSpc>
                <a:spcPct val="150000"/>
              </a:lnSpc>
              <a:buNone/>
            </a:pPr>
            <a:r>
              <a:rPr lang="en-IN" sz="2200" dirty="0">
                <a:latin typeface="Franklin Gothic Book" panose="020B0503020102020204" pitchFamily="34" charset="0"/>
              </a:rPr>
              <a:t>Microsoft Azure Documentation – </a:t>
            </a:r>
            <a:r>
              <a:rPr lang="en-IN" sz="2200" i="1" dirty="0">
                <a:latin typeface="Franklin Gothic Book" panose="020B0503020102020204" pitchFamily="34" charset="0"/>
              </a:rPr>
              <a:t>Azure Machine Learning Service</a:t>
            </a:r>
            <a:r>
              <a:rPr lang="en-IN" sz="2200" dirty="0">
                <a:latin typeface="Franklin Gothic Book" panose="020B0503020102020204" pitchFamily="34" charset="0"/>
              </a:rPr>
              <a:t>. Available at: </a:t>
            </a:r>
            <a:r>
              <a:rPr lang="en-IN" sz="2200" dirty="0">
                <a:latin typeface="Franklin Gothic Book" panose="020B0503020102020204" pitchFamily="34" charset="0"/>
                <a:hlinkClick r:id="rId2"/>
              </a:rPr>
              <a:t>https://learn.microsoft.com/azure/machine-learning</a:t>
            </a:r>
            <a:endParaRPr lang="en-IN" sz="2200" dirty="0">
              <a:latin typeface="Franklin Gothic Book" panose="020B0503020102020204" pitchFamily="34" charset="0"/>
            </a:endParaRPr>
          </a:p>
          <a:p>
            <a:pPr marL="0" indent="0">
              <a:lnSpc>
                <a:spcPct val="150000"/>
              </a:lnSpc>
              <a:buNone/>
            </a:pPr>
            <a:r>
              <a:rPr lang="fr-FR" sz="2200" dirty="0">
                <a:latin typeface="Franklin Gothic Book" panose="020B0503020102020204" pitchFamily="34" charset="0"/>
              </a:rPr>
              <a:t>Microsoft Azure Documentation – </a:t>
            </a:r>
            <a:r>
              <a:rPr lang="fr-FR" sz="2200" i="1" dirty="0">
                <a:latin typeface="Franklin Gothic Book" panose="020B0503020102020204" pitchFamily="34" charset="0"/>
              </a:rPr>
              <a:t>Azure App Service</a:t>
            </a:r>
            <a:r>
              <a:rPr lang="fr-FR" sz="2200" dirty="0">
                <a:latin typeface="Franklin Gothic Book" panose="020B0503020102020204" pitchFamily="34" charset="0"/>
              </a:rPr>
              <a:t>. </a:t>
            </a:r>
            <a:r>
              <a:rPr lang="fr-FR" sz="2200" dirty="0" err="1">
                <a:latin typeface="Franklin Gothic Book" panose="020B0503020102020204" pitchFamily="34" charset="0"/>
              </a:rPr>
              <a:t>Available</a:t>
            </a:r>
            <a:r>
              <a:rPr lang="fr-FR" sz="2200" dirty="0">
                <a:latin typeface="Franklin Gothic Book" panose="020B0503020102020204" pitchFamily="34" charset="0"/>
              </a:rPr>
              <a:t> at: </a:t>
            </a:r>
            <a:r>
              <a:rPr lang="fr-FR" sz="2200" dirty="0">
                <a:latin typeface="Franklin Gothic Book" panose="020B0503020102020204" pitchFamily="34" charset="0"/>
                <a:hlinkClick r:id="rId3"/>
              </a:rPr>
              <a:t>https://learn.microsoft.com/azure/app-service</a:t>
            </a:r>
            <a:endParaRPr lang="fr-FR" sz="2200" dirty="0">
              <a:latin typeface="Franklin Gothic Book" panose="020B0503020102020204" pitchFamily="34" charset="0"/>
            </a:endParaRPr>
          </a:p>
          <a:p>
            <a:pPr marL="0" indent="0">
              <a:lnSpc>
                <a:spcPct val="150000"/>
              </a:lnSpc>
              <a:buNone/>
            </a:pPr>
            <a:r>
              <a:rPr lang="en-US" sz="2200" dirty="0">
                <a:latin typeface="Franklin Gothic Book" panose="020B0503020102020204" pitchFamily="34" charset="0"/>
              </a:rPr>
              <a:t>Kaggle – </a:t>
            </a:r>
            <a:r>
              <a:rPr lang="en-US" sz="2200" i="1" dirty="0">
                <a:latin typeface="Franklin Gothic Book" panose="020B0503020102020204" pitchFamily="34" charset="0"/>
              </a:rPr>
              <a:t>Road Accident Dataset</a:t>
            </a:r>
            <a:r>
              <a:rPr lang="en-US" sz="2200" dirty="0">
                <a:latin typeface="Franklin Gothic Book" panose="020B0503020102020204" pitchFamily="34" charset="0"/>
              </a:rPr>
              <a:t>. Available at: </a:t>
            </a:r>
            <a:r>
              <a:rPr lang="en-US" sz="2200" dirty="0">
                <a:latin typeface="Franklin Gothic Book" panose="020B0503020102020204" pitchFamily="34" charset="0"/>
                <a:hlinkClick r:id="rId4"/>
              </a:rPr>
              <a:t>https://www.kaggle.com</a:t>
            </a:r>
            <a:endParaRPr lang="en-IN" sz="2200" dirty="0">
              <a:latin typeface="Franklin Gothic Book" panose="020B0503020102020204" pitchFamily="34" charset="0"/>
            </a:endParaRPr>
          </a:p>
          <a:p>
            <a:pPr marL="0" indent="0">
              <a:lnSpc>
                <a:spcPct val="150000"/>
              </a:lnSpc>
              <a:buNone/>
            </a:pPr>
            <a:r>
              <a:rPr lang="en-IN" sz="2200" dirty="0">
                <a:latin typeface="Franklin Gothic Book"/>
              </a:rPr>
              <a:t>GitHub Link:</a:t>
            </a:r>
            <a:r>
              <a:rPr lang="en-IN" sz="2200" dirty="0">
                <a:solidFill>
                  <a:srgbClr val="0070C0"/>
                </a:solidFill>
                <a:latin typeface="Franklin Gothic Book"/>
              </a:rPr>
              <a:t> </a:t>
            </a:r>
            <a:r>
              <a:rPr lang="en-IN" sz="2200" u="sng" dirty="0">
                <a:solidFill>
                  <a:srgbClr val="0070C0"/>
                </a:solidFill>
                <a:latin typeface="Franklin Gothic Book"/>
              </a:rPr>
              <a:t>https://github.com/Shivam200408/-Traffic-Accident-Severity-Prediction-System.git</a:t>
            </a:r>
          </a:p>
          <a:p>
            <a:pPr marL="0" indent="0">
              <a:buNone/>
            </a:pPr>
            <a:endParaRPr lang="en-IN" sz="2200" dirty="0">
              <a:latin typeface="Franklin Gothic Book"/>
            </a:endParaRPr>
          </a:p>
        </p:txBody>
      </p:sp>
    </p:spTree>
    <p:extLst>
      <p:ext uri="{BB962C8B-B14F-4D97-AF65-F5344CB8AC3E}">
        <p14:creationId xmlns:p14="http://schemas.microsoft.com/office/powerpoint/2010/main" val="169170067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D143E5-DB51-E32C-9252-0ED5EF288497}"/>
            </a:ext>
          </a:extLst>
        </p:cNvPr>
        <p:cNvGrpSpPr/>
        <p:nvPr/>
      </p:nvGrpSpPr>
      <p:grpSpPr>
        <a:xfrm>
          <a:off x="0" y="0"/>
          <a:ext cx="0" cy="0"/>
          <a:chOff x="0" y="0"/>
          <a:chExt cx="0" cy="0"/>
        </a:xfrm>
      </p:grpSpPr>
      <p:sp>
        <p:nvSpPr>
          <p:cNvPr id="7" name="Text Placeholder 4">
            <a:extLst>
              <a:ext uri="{FF2B5EF4-FFF2-40B4-BE49-F238E27FC236}">
                <a16:creationId xmlns:a16="http://schemas.microsoft.com/office/drawing/2014/main" id="{DE97B5AD-3B10-086C-32EF-8A2EAD5287C2}"/>
              </a:ext>
            </a:extLst>
          </p:cNvPr>
          <p:cNvSpPr txBox="1">
            <a:spLocks/>
          </p:cNvSpPr>
          <p:nvPr/>
        </p:nvSpPr>
        <p:spPr>
          <a:xfrm>
            <a:off x="314324" y="6312352"/>
            <a:ext cx="3724275" cy="295275"/>
          </a:xfrm>
          <a:prstGeom prst="rect">
            <a:avLst/>
          </a:prstGeom>
        </p:spPr>
        <p:txBody>
          <a:bodyPr/>
          <a:lstStyle>
            <a:lvl1pPr marL="228611" indent="-228611" algn="l" defTabSz="609630" rtl="0" eaLnBrk="1" latinLnBrk="0" hangingPunct="1">
              <a:spcBef>
                <a:spcPct val="20000"/>
              </a:spcBef>
              <a:buFont typeface="Arial" pitchFamily="34" charset="0"/>
              <a:buChar char="•"/>
              <a:defRPr sz="2133" kern="1200">
                <a:solidFill>
                  <a:schemeClr val="tx1"/>
                </a:solidFill>
                <a:latin typeface="+mn-lt"/>
                <a:ea typeface="+mn-ea"/>
                <a:cs typeface="+mn-cs"/>
              </a:defRPr>
            </a:lvl1pPr>
            <a:lvl2pPr marL="495325" indent="-190510" algn="l" defTabSz="609630" rtl="0" eaLnBrk="1" latinLnBrk="0" hangingPunct="1">
              <a:spcBef>
                <a:spcPct val="20000"/>
              </a:spcBef>
              <a:buFont typeface="Arial" pitchFamily="34" charset="0"/>
              <a:buChar char="–"/>
              <a:defRPr sz="1867" kern="1200">
                <a:solidFill>
                  <a:schemeClr val="tx1"/>
                </a:solidFill>
                <a:latin typeface="+mn-lt"/>
                <a:ea typeface="+mn-ea"/>
                <a:cs typeface="+mn-cs"/>
              </a:defRPr>
            </a:lvl2pPr>
            <a:lvl3pPr marL="762038" indent="-152408" algn="l" defTabSz="609630" rtl="0" eaLnBrk="1" latinLnBrk="0" hangingPunct="1">
              <a:spcBef>
                <a:spcPct val="20000"/>
              </a:spcBef>
              <a:buFont typeface="Arial" pitchFamily="34" charset="0"/>
              <a:buChar char="•"/>
              <a:defRPr sz="1600" kern="1200">
                <a:solidFill>
                  <a:schemeClr val="tx1"/>
                </a:solidFill>
                <a:latin typeface="+mn-lt"/>
                <a:ea typeface="+mn-ea"/>
                <a:cs typeface="+mn-cs"/>
              </a:defRPr>
            </a:lvl3pPr>
            <a:lvl4pPr marL="1066853"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4pPr>
            <a:lvl5pPr marL="1371669"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5pPr>
            <a:lvl6pPr marL="1676484"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6pPr>
            <a:lvl7pPr marL="1981299"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7pPr>
            <a:lvl8pPr marL="2286114"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8pPr>
            <a:lvl9pPr marL="2590930"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9pPr>
          </a:lstStyle>
          <a:p>
            <a:pPr marL="173736" indent="-173736">
              <a:buFont typeface="Arial" pitchFamily="34" charset="0"/>
              <a:buNone/>
            </a:pPr>
            <a:endParaRPr lang="en-US" sz="1400">
              <a:latin typeface="Arial" panose="020B0604020202020204" pitchFamily="34" charset="0"/>
              <a:cs typeface="Arial" panose="020B0604020202020204" pitchFamily="34" charset="0"/>
            </a:endParaRPr>
          </a:p>
        </p:txBody>
      </p:sp>
      <p:sp>
        <p:nvSpPr>
          <p:cNvPr id="2" name="Title 3">
            <a:extLst>
              <a:ext uri="{FF2B5EF4-FFF2-40B4-BE49-F238E27FC236}">
                <a16:creationId xmlns:a16="http://schemas.microsoft.com/office/drawing/2014/main" id="{AFC7433E-E155-E68D-4C00-FCB38967C6F9}"/>
              </a:ext>
            </a:extLst>
          </p:cNvPr>
          <p:cNvSpPr txBox="1">
            <a:spLocks/>
          </p:cNvSpPr>
          <p:nvPr/>
        </p:nvSpPr>
        <p:spPr>
          <a:xfrm>
            <a:off x="3247621" y="3009471"/>
            <a:ext cx="5696757" cy="839057"/>
          </a:xfrm>
          <a:prstGeom prst="rect">
            <a:avLst/>
          </a:prstGeom>
        </p:spPr>
        <p:txBody>
          <a:bodyPr lIns="91440" tIns="45720" rIns="91440" bIns="45720" anchor="t"/>
          <a:lstStyle>
            <a:lvl1pPr algn="ctr" defTabSz="609630" rtl="0" eaLnBrk="1" latinLnBrk="0" hangingPunct="1">
              <a:spcBef>
                <a:spcPct val="0"/>
              </a:spcBef>
              <a:buNone/>
              <a:defRPr sz="2933" kern="1200">
                <a:solidFill>
                  <a:schemeClr val="tx1"/>
                </a:solidFill>
                <a:latin typeface="+mj-lt"/>
                <a:ea typeface="+mj-ea"/>
                <a:cs typeface="+mj-cs"/>
              </a:defRPr>
            </a:lvl1pPr>
          </a:lstStyle>
          <a:p>
            <a:r>
              <a:rPr lang="en-US" sz="4800" b="1">
                <a:solidFill>
                  <a:srgbClr val="002060"/>
                </a:solidFill>
                <a:latin typeface="Arial"/>
                <a:cs typeface="Arial"/>
              </a:rPr>
              <a:t>Thank You</a:t>
            </a:r>
          </a:p>
        </p:txBody>
      </p:sp>
    </p:spTree>
    <p:custDataLst>
      <p:tags r:id="rId1"/>
    </p:custDataLst>
    <p:extLst>
      <p:ext uri="{BB962C8B-B14F-4D97-AF65-F5344CB8AC3E}">
        <p14:creationId xmlns:p14="http://schemas.microsoft.com/office/powerpoint/2010/main" val="2544602034"/>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ARTICULATE_DESIGN_ID_1_OFFICE THEME" val="TmdBxN3j"/>
  <p:tag name="ARTICULATE_PROJECT_OPEN" val="0"/>
  <p:tag name="ARTICULATE_SLIDE_COUNT" val="9"/>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1_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Custom Design">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150</TotalTime>
  <Words>1390</Words>
  <Application>Microsoft Office PowerPoint</Application>
  <PresentationFormat>Widescreen</PresentationFormat>
  <Paragraphs>75</Paragraphs>
  <Slides>14</Slides>
  <Notes>2</Notes>
  <HiddenSlides>0</HiddenSlides>
  <MMClips>0</MMClips>
  <ScaleCrop>false</ScaleCrop>
  <HeadingPairs>
    <vt:vector size="6" baseType="variant">
      <vt:variant>
        <vt:lpstr>Fonts Used</vt:lpstr>
      </vt:variant>
      <vt:variant>
        <vt:i4>4</vt:i4>
      </vt:variant>
      <vt:variant>
        <vt:lpstr>Theme</vt:lpstr>
      </vt:variant>
      <vt:variant>
        <vt:i4>2</vt:i4>
      </vt:variant>
      <vt:variant>
        <vt:lpstr>Slide Titles</vt:lpstr>
      </vt:variant>
      <vt:variant>
        <vt:i4>14</vt:i4>
      </vt:variant>
    </vt:vector>
  </HeadingPairs>
  <TitlesOfParts>
    <vt:vector size="20" baseType="lpstr">
      <vt:lpstr>Aptos</vt:lpstr>
      <vt:lpstr>Arial</vt:lpstr>
      <vt:lpstr>Calibri</vt:lpstr>
      <vt:lpstr>Franklin Gothic Book</vt:lpstr>
      <vt:lpstr>1_Office Theme</vt:lpstr>
      <vt:lpstr>Custom Design</vt:lpstr>
      <vt:lpstr>PowerPoint Presentation</vt:lpstr>
      <vt:lpstr>OUTLINE:</vt:lpstr>
      <vt:lpstr>Problem Statement:</vt:lpstr>
      <vt:lpstr>Proposed Solution:</vt:lpstr>
      <vt:lpstr>System  Approach:</vt:lpstr>
      <vt:lpstr>Algorithm &amp; Deployment:</vt:lpstr>
      <vt:lpstr>Result:</vt:lpstr>
      <vt:lpstr>PowerPoint Presentation</vt:lpstr>
      <vt:lpstr>PowerPoint Presentation</vt:lpstr>
      <vt:lpstr>PowerPoint Presentation</vt:lpstr>
      <vt:lpstr>Conclusion:</vt:lpstr>
      <vt:lpstr>Future scope:</vt:lpstr>
      <vt:lpstr>References: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Vikrant Nath Nagar</dc:creator>
  <cp:lastModifiedBy>Shivam Dhamankar</cp:lastModifiedBy>
  <cp:revision>107</cp:revision>
  <cp:lastPrinted>2026-02-22T09:45:42Z</cp:lastPrinted>
  <dcterms:created xsi:type="dcterms:W3CDTF">2024-05-21T11:55:07Z</dcterms:created>
  <dcterms:modified xsi:type="dcterms:W3CDTF">2026-02-22T09:48:18Z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rticulateGUID">
    <vt:lpwstr>8775663C-0243-495A-BCAB-F653BDE41EC7</vt:lpwstr>
  </property>
  <property fmtid="{D5CDD505-2E9C-101B-9397-08002B2CF9AE}" pid="3" name="ArticulatePath">
    <vt:lpwstr>https://edunetfoundationorg-my.sharepoint.com/personal/kaisar_edunetfoundation_org/Documents/Beutified ppt/MSITI/Micro Degree/Content/Module 4 Data Science/PPT/1. Introduction to Data Science</vt:lpwstr>
  </property>
</Properties>
</file>